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8" r:id="rId2"/>
    <p:sldId id="419" r:id="rId3"/>
    <p:sldId id="420" r:id="rId4"/>
    <p:sldId id="427" r:id="rId5"/>
    <p:sldId id="428" r:id="rId6"/>
    <p:sldId id="438" r:id="rId7"/>
    <p:sldId id="439" r:id="rId8"/>
    <p:sldId id="429" r:id="rId9"/>
    <p:sldId id="430" r:id="rId10"/>
    <p:sldId id="431" r:id="rId11"/>
    <p:sldId id="432" r:id="rId12"/>
    <p:sldId id="433" r:id="rId13"/>
    <p:sldId id="434" r:id="rId14"/>
    <p:sldId id="435" r:id="rId15"/>
    <p:sldId id="436" r:id="rId16"/>
    <p:sldId id="437" r:id="rId17"/>
    <p:sldId id="422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60B4D8F-3CA7-4C19-87DC-03324C33B426}">
          <p14:sldIdLst>
            <p14:sldId id="258"/>
            <p14:sldId id="419"/>
          </p14:sldIdLst>
        </p14:section>
        <p14:section name="Proposal" id="{4253E8E0-7C59-43D6-B014-93B779B1E09F}">
          <p14:sldIdLst>
            <p14:sldId id="420"/>
          </p14:sldIdLst>
        </p14:section>
        <p14:section name="Model Architecture" id="{D9E7BD34-F32F-4A01-9204-C85640CE0DB0}">
          <p14:sldIdLst>
            <p14:sldId id="427"/>
            <p14:sldId id="428"/>
            <p14:sldId id="438"/>
            <p14:sldId id="439"/>
            <p14:sldId id="429"/>
            <p14:sldId id="430"/>
            <p14:sldId id="431"/>
            <p14:sldId id="432"/>
            <p14:sldId id="433"/>
            <p14:sldId id="434"/>
            <p14:sldId id="435"/>
            <p14:sldId id="436"/>
            <p14:sldId id="437"/>
          </p14:sldIdLst>
        </p14:section>
        <p14:section name="Why Self-Attention" id="{ACC07D2B-BCFC-43AA-B4A6-653D8EFE421B}">
          <p14:sldIdLst>
            <p14:sldId id="42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1E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1AC801-AD1E-4E86-A700-2C343F9158A1}" type="datetimeFigureOut">
              <a:rPr lang="ko-KR" altLang="en-US" smtClean="0"/>
              <a:t>2025-07-22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DAD7CE-5464-4C83-A6CE-290DE65F1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5314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42F2ABC9-ECD3-D6CF-B15A-4CFDA403D3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192" y="6128419"/>
            <a:ext cx="2775666" cy="457223"/>
          </a:xfrm>
          <a:prstGeom prst="rect">
            <a:avLst/>
          </a:prstGeom>
        </p:spPr>
      </p:pic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B3ABC582-8FE1-663C-50ED-6C6521AE65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33808" y="64239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0853A9-3D91-4627-B377-02682E3E593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88299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E0F81EE0-ED20-8BE9-EBB4-B3C83279394D}"/>
              </a:ext>
            </a:extLst>
          </p:cNvPr>
          <p:cNvSpPr/>
          <p:nvPr userDrawn="1"/>
        </p:nvSpPr>
        <p:spPr>
          <a:xfrm>
            <a:off x="0" y="0"/>
            <a:ext cx="38862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CA4932-DDEB-F643-EFBF-C4B1F73A7AC6}"/>
              </a:ext>
            </a:extLst>
          </p:cNvPr>
          <p:cNvSpPr txBox="1"/>
          <p:nvPr userDrawn="1"/>
        </p:nvSpPr>
        <p:spPr>
          <a:xfrm rot="10800000">
            <a:off x="-38757" y="0"/>
            <a:ext cx="461665" cy="660654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l"/>
            <a:r>
              <a:rPr lang="en-US" altLang="ko-KR" dirty="0">
                <a:solidFill>
                  <a:schemeClr val="accent4"/>
                </a:solidFill>
              </a:rPr>
              <a:t>DGIST DATA SCIENCE LAB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934053-AB8F-3D78-5D1B-185AF666F2F5}"/>
              </a:ext>
            </a:extLst>
          </p:cNvPr>
          <p:cNvSpPr txBox="1"/>
          <p:nvPr userDrawn="1"/>
        </p:nvSpPr>
        <p:spPr>
          <a:xfrm>
            <a:off x="788670" y="230356"/>
            <a:ext cx="47205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0" dirty="0"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lang="ko-KR" altLang="en-US" sz="4400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5C444DE1-6479-1956-D697-CD4B06D9395D}"/>
              </a:ext>
            </a:extLst>
          </p:cNvPr>
          <p:cNvCxnSpPr>
            <a:cxnSpLocks/>
          </p:cNvCxnSpPr>
          <p:nvPr userDrawn="1"/>
        </p:nvCxnSpPr>
        <p:spPr>
          <a:xfrm>
            <a:off x="788670" y="1103560"/>
            <a:ext cx="10927080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 descr="텍스트이(가) 표시된 사진&#10;&#10;자동 생성된 설명">
            <a:extLst>
              <a:ext uri="{FF2B5EF4-FFF2-40B4-BE49-F238E27FC236}">
                <a16:creationId xmlns:a16="http://schemas.microsoft.com/office/drawing/2014/main" id="{4F77F9D5-58F2-5762-5303-50C1BC92B1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192" y="6128419"/>
            <a:ext cx="2775666" cy="457223"/>
          </a:xfrm>
          <a:prstGeom prst="rect">
            <a:avLst/>
          </a:prstGeom>
        </p:spPr>
      </p:pic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7B646D40-A4B2-8411-E62B-4BA4E8049C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33808" y="64239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0853A9-3D91-4627-B377-02682E3E59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2331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 양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BA26682B-44CA-303F-AEA3-5A29C5692700}"/>
              </a:ext>
            </a:extLst>
          </p:cNvPr>
          <p:cNvCxnSpPr>
            <a:cxnSpLocks/>
          </p:cNvCxnSpPr>
          <p:nvPr userDrawn="1"/>
        </p:nvCxnSpPr>
        <p:spPr>
          <a:xfrm>
            <a:off x="788670" y="1103560"/>
            <a:ext cx="10927080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 descr="텍스트이(가) 표시된 사진&#10;&#10;자동 생성된 설명">
            <a:extLst>
              <a:ext uri="{FF2B5EF4-FFF2-40B4-BE49-F238E27FC236}">
                <a16:creationId xmlns:a16="http://schemas.microsoft.com/office/drawing/2014/main" id="{D751CD70-14D9-A5E5-C141-381AB71232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192" y="6128419"/>
            <a:ext cx="2775666" cy="457223"/>
          </a:xfrm>
          <a:prstGeom prst="rect">
            <a:avLst/>
          </a:prstGeom>
        </p:spPr>
      </p:pic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CC8C17B6-8F84-E5A2-A544-8CC9D13A7B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33808" y="64239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0853A9-3D91-4627-B377-02682E3E59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80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소제목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BA26682B-44CA-303F-AEA3-5A29C5692700}"/>
              </a:ext>
            </a:extLst>
          </p:cNvPr>
          <p:cNvCxnSpPr>
            <a:cxnSpLocks/>
          </p:cNvCxnSpPr>
          <p:nvPr userDrawn="1"/>
        </p:nvCxnSpPr>
        <p:spPr>
          <a:xfrm>
            <a:off x="788670" y="614033"/>
            <a:ext cx="10927080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 descr="텍스트이(가) 표시된 사진&#10;&#10;자동 생성된 설명">
            <a:extLst>
              <a:ext uri="{FF2B5EF4-FFF2-40B4-BE49-F238E27FC236}">
                <a16:creationId xmlns:a16="http://schemas.microsoft.com/office/drawing/2014/main" id="{14619B28-0CAC-4F9C-34AF-6687E9251D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192" y="6128419"/>
            <a:ext cx="2775666" cy="457223"/>
          </a:xfrm>
          <a:prstGeom prst="rect">
            <a:avLst/>
          </a:prstGeom>
        </p:spPr>
      </p:pic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6E60C301-CADF-772B-65D8-411358FCE7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33808" y="64239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0853A9-3D91-4627-B377-02682E3E593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85097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강조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6BED5A5-A093-F651-8D82-03ECA441EA3E}"/>
              </a:ext>
            </a:extLst>
          </p:cNvPr>
          <p:cNvSpPr txBox="1"/>
          <p:nvPr userDrawn="1"/>
        </p:nvSpPr>
        <p:spPr>
          <a:xfrm>
            <a:off x="3038475" y="1346954"/>
            <a:ext cx="61150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5400" dirty="0">
                <a:solidFill>
                  <a:schemeClr val="accent4"/>
                </a:solidFill>
              </a:rPr>
              <a:t>AGENDA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A138BAE-13AC-BA75-4581-7C6EF932BB1F}"/>
              </a:ext>
            </a:extLst>
          </p:cNvPr>
          <p:cNvCxnSpPr>
            <a:cxnSpLocks/>
          </p:cNvCxnSpPr>
          <p:nvPr userDrawn="1"/>
        </p:nvCxnSpPr>
        <p:spPr>
          <a:xfrm>
            <a:off x="2364105" y="2613695"/>
            <a:ext cx="7463790" cy="77288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537E5A58-7311-2399-D80F-83C1BB0CCA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33808" y="64239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0853A9-3D91-4627-B377-02682E3E59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4682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CE9D58C4-A221-0470-4225-5C241DA4EF16}"/>
              </a:ext>
            </a:extLst>
          </p:cNvPr>
          <p:cNvSpPr/>
          <p:nvPr userDrawn="1"/>
        </p:nvSpPr>
        <p:spPr>
          <a:xfrm>
            <a:off x="0" y="0"/>
            <a:ext cx="38862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3F3179-991F-370F-47D8-30E51163ED61}"/>
              </a:ext>
            </a:extLst>
          </p:cNvPr>
          <p:cNvSpPr txBox="1"/>
          <p:nvPr userDrawn="1"/>
        </p:nvSpPr>
        <p:spPr>
          <a:xfrm rot="10800000">
            <a:off x="-38757" y="0"/>
            <a:ext cx="461665" cy="660654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l"/>
            <a:r>
              <a:rPr lang="en-US" altLang="ko-KR" dirty="0">
                <a:solidFill>
                  <a:schemeClr val="accent4"/>
                </a:solidFill>
              </a:rPr>
              <a:t>DGIST DATA SCIENCE LAB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C65628F9-EEB3-747C-CE0A-FD86F331DB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33808" y="64239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0853A9-3D91-4627-B377-02682E3E59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0941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7" r:id="rId3"/>
    <p:sldLayoutId id="2147483666" r:id="rId4"/>
    <p:sldLayoutId id="2147483663" r:id="rId5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00874E-66EF-C5BC-F826-826B85386E4B}"/>
              </a:ext>
            </a:extLst>
          </p:cNvPr>
          <p:cNvSpPr txBox="1"/>
          <p:nvPr/>
        </p:nvSpPr>
        <p:spPr>
          <a:xfrm>
            <a:off x="102773" y="649508"/>
            <a:ext cx="11983033" cy="89672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US" altLang="ko-KR" sz="4000" b="1" dirty="0">
                <a:solidFill>
                  <a:srgbClr val="E7E6E6">
                    <a:lumMod val="2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네오 Heavy"/>
              </a:rPr>
              <a:t>Attention</a:t>
            </a:r>
            <a:r>
              <a:rPr lang="ko-KR" altLang="en-US" sz="4000" b="1" dirty="0">
                <a:solidFill>
                  <a:srgbClr val="E7E6E6">
                    <a:lumMod val="2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네오 Heavy"/>
              </a:rPr>
              <a:t> </a:t>
            </a:r>
            <a:r>
              <a:rPr lang="en-US" altLang="ko-KR" sz="4000" b="1" dirty="0">
                <a:solidFill>
                  <a:srgbClr val="E7E6E6">
                    <a:lumMod val="2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네오 Heavy"/>
              </a:rPr>
              <a:t>Is All You Need</a:t>
            </a:r>
            <a:endParaRPr kumimoji="0" lang="en-US" altLang="ko-KR" sz="40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나눔스퀘어 네오 Heavy"/>
              <a:cs typeface="+mn-cs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A9D438A-A2CA-8A10-C0BC-54B7F6E45163}"/>
              </a:ext>
            </a:extLst>
          </p:cNvPr>
          <p:cNvCxnSpPr>
            <a:cxnSpLocks/>
          </p:cNvCxnSpPr>
          <p:nvPr/>
        </p:nvCxnSpPr>
        <p:spPr>
          <a:xfrm>
            <a:off x="1551754" y="3429002"/>
            <a:ext cx="9552394" cy="0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61D303D-FF71-3007-E78D-85A36942D882}"/>
              </a:ext>
            </a:extLst>
          </p:cNvPr>
          <p:cNvSpPr txBox="1"/>
          <p:nvPr/>
        </p:nvSpPr>
        <p:spPr>
          <a:xfrm>
            <a:off x="4897182" y="3770231"/>
            <a:ext cx="23942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/>
                <a:cs typeface="+mn-cs"/>
              </a:rPr>
              <a:t>2025.07.22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네오 Regular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B90E42-977C-379D-722C-311BAEF2A965}"/>
              </a:ext>
            </a:extLst>
          </p:cNvPr>
          <p:cNvSpPr txBox="1"/>
          <p:nvPr/>
        </p:nvSpPr>
        <p:spPr>
          <a:xfrm>
            <a:off x="4999039" y="4576951"/>
            <a:ext cx="21905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/>
                <a:cs typeface="+mn-cs"/>
              </a:rPr>
              <a:t>서정호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A65250-D1FF-F396-0E1B-B33E703D9C79}"/>
              </a:ext>
            </a:extLst>
          </p:cNvPr>
          <p:cNvSpPr txBox="1"/>
          <p:nvPr/>
        </p:nvSpPr>
        <p:spPr>
          <a:xfrm>
            <a:off x="1733683" y="187843"/>
            <a:ext cx="87212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 err="1"/>
              <a:t>NeurIPS</a:t>
            </a:r>
            <a:r>
              <a:rPr lang="fr-FR" altLang="ko-KR" sz="2400" dirty="0"/>
              <a:t> 2017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D7137E-B747-B01A-2461-023E5BB39B43}"/>
              </a:ext>
            </a:extLst>
          </p:cNvPr>
          <p:cNvSpPr txBox="1"/>
          <p:nvPr/>
        </p:nvSpPr>
        <p:spPr>
          <a:xfrm>
            <a:off x="1733683" y="2141914"/>
            <a:ext cx="8721212" cy="1287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altLang="ko-KR" dirty="0"/>
              <a:t>Authors: </a:t>
            </a:r>
            <a:r>
              <a:rPr lang="fr-FR" altLang="ko-KR" i="1" dirty="0"/>
              <a:t>Ashish Vaswani, Noam Shazeer, Niki Parmar, Jakob Uszkoreit, Llion Jones, Aidan N Gomez, Łukasz Kaiser, Illia Polosukhin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rgbClr val="1F1F1F"/>
                </a:solidFill>
                <a:latin typeface="Arial Unicode MS"/>
                <a:ea typeface="inherit"/>
                <a:cs typeface="Arial" panose="020B0604020202020204" pitchFamily="34" charset="0"/>
              </a:rPr>
              <a:t>Main </a:t>
            </a:r>
            <a:r>
              <a:rPr lang="ko-KR" altLang="ko-KR" dirty="0" err="1">
                <a:solidFill>
                  <a:srgbClr val="1F1F1F"/>
                </a:solidFill>
                <a:latin typeface="Arial Unicode MS"/>
                <a:ea typeface="inherit"/>
                <a:cs typeface="Arial" panose="020B0604020202020204" pitchFamily="34" charset="0"/>
              </a:rPr>
              <a:t>Affiliation</a:t>
            </a:r>
            <a:r>
              <a:rPr lang="fr-FR" altLang="ko-KR" dirty="0">
                <a:solidFill>
                  <a:srgbClr val="1F1F1F"/>
                </a:solidFill>
                <a:latin typeface="Arial Unicode MS"/>
                <a:ea typeface="inherit"/>
                <a:cs typeface="Arial" panose="020B0604020202020204" pitchFamily="34" charset="0"/>
              </a:rPr>
              <a:t>: </a:t>
            </a:r>
            <a:r>
              <a:rPr lang="en-US" altLang="ko-KR" dirty="0">
                <a:solidFill>
                  <a:srgbClr val="1F1F1F"/>
                </a:solidFill>
                <a:latin typeface="Arial Unicode MS"/>
                <a:ea typeface="inherit"/>
                <a:cs typeface="Arial" panose="020B0604020202020204" pitchFamily="34" charset="0"/>
              </a:rPr>
              <a:t>Google Brain</a:t>
            </a:r>
            <a:endParaRPr lang="fr-FR" altLang="ko-KR" dirty="0"/>
          </a:p>
        </p:txBody>
      </p:sp>
    </p:spTree>
    <p:extLst>
      <p:ext uri="{BB962C8B-B14F-4D97-AF65-F5344CB8AC3E}">
        <p14:creationId xmlns:p14="http://schemas.microsoft.com/office/powerpoint/2010/main" val="1846789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42294FE-01E3-DDBE-2A8D-7F3AC97EA4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2819D6-648F-7667-71CF-3133FE3E8082}"/>
              </a:ext>
            </a:extLst>
          </p:cNvPr>
          <p:cNvSpPr txBox="1"/>
          <p:nvPr/>
        </p:nvSpPr>
        <p:spPr>
          <a:xfrm>
            <a:off x="822121" y="1277385"/>
            <a:ext cx="11020475" cy="1841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나눔스퀘어 네오 Regular"/>
                <a:cs typeface="+mn-cs"/>
              </a:rPr>
              <a:t>Proposal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rabicPeriod"/>
              <a:defRPr/>
            </a:pPr>
            <a:r>
              <a:rPr lang="en-US" altLang="ko-KR" sz="2000" b="1" dirty="0">
                <a:latin typeface="나눔스퀘어 네오 Regular"/>
              </a:rPr>
              <a:t>Model Architecture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rabicPeriod"/>
              <a:defRPr/>
            </a:pPr>
            <a:r>
              <a:rPr lang="en-US" altLang="ko-KR" sz="2000" b="1" dirty="0">
                <a:latin typeface="나눔스퀘어 네오 Regular"/>
              </a:rPr>
              <a:t>Why Self-Attention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나눔스퀘어 네오 Regular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8336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71CBA52-BFDE-986C-14F8-D56FCFF06D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B9F2A0-5115-1219-079F-F8CB536EB40B}"/>
              </a:ext>
            </a:extLst>
          </p:cNvPr>
          <p:cNvSpPr txBox="1"/>
          <p:nvPr/>
        </p:nvSpPr>
        <p:spPr>
          <a:xfrm>
            <a:off x="890945" y="88562"/>
            <a:ext cx="1102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/>
              <a:defRPr/>
            </a:pPr>
            <a:r>
              <a:rPr lang="en-US" altLang="ko-KR" sz="2800" b="1" dirty="0"/>
              <a:t>Proposal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DEB281D-A1D6-038D-8E4B-DA6E44EF6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445" y="969785"/>
            <a:ext cx="7286711" cy="16427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24B1B53-83B8-C523-8466-24FD1EA82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945" y="2923245"/>
            <a:ext cx="6956100" cy="3082716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489861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C53E1-4B8A-D4C0-D39C-4FD7403FC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CC493BC-9255-79AD-E73E-CF4BFD2C94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39B844A-BBD9-BB85-4A0E-0D1C2662F0F5}"/>
              </a:ext>
            </a:extLst>
          </p:cNvPr>
          <p:cNvSpPr txBox="1"/>
          <p:nvPr/>
        </p:nvSpPr>
        <p:spPr>
          <a:xfrm>
            <a:off x="890945" y="88562"/>
            <a:ext cx="1102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 startAt="2"/>
              <a:defRPr/>
            </a:pPr>
            <a:r>
              <a:rPr lang="en-US" altLang="ko-KR" sz="2800" b="1" dirty="0"/>
              <a:t>Model Architecture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9414A93-DBDB-C500-1DBB-692AA0898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45" y="1015134"/>
            <a:ext cx="4772737" cy="3305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938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E4959-1245-EFEE-0931-13FE9BEDA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84A10A2-76FB-459C-9673-354E7D0238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4F53C9B-F7D6-49B6-D992-9D75ECFD0387}"/>
              </a:ext>
            </a:extLst>
          </p:cNvPr>
          <p:cNvSpPr txBox="1"/>
          <p:nvPr/>
        </p:nvSpPr>
        <p:spPr>
          <a:xfrm>
            <a:off x="890945" y="88562"/>
            <a:ext cx="1102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 startAt="2"/>
              <a:defRPr/>
            </a:pPr>
            <a:r>
              <a:rPr lang="en-US" altLang="ko-KR" sz="2800" b="1" dirty="0"/>
              <a:t>Model Architecture</a:t>
            </a:r>
          </a:p>
        </p:txBody>
      </p:sp>
      <p:pic>
        <p:nvPicPr>
          <p:cNvPr id="4" name="그림 3" descr="텍스트, 도표, 스크린샷, 평면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A3B1234-2B88-49BA-8D9B-2DD0376B97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945" y="902752"/>
            <a:ext cx="3444538" cy="523539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D49344C7-E48D-13AC-A2F6-5321EAE2F052}"/>
              </a:ext>
            </a:extLst>
          </p:cNvPr>
          <p:cNvSpPr/>
          <p:nvPr/>
        </p:nvSpPr>
        <p:spPr>
          <a:xfrm>
            <a:off x="5044114" y="902752"/>
            <a:ext cx="3722915" cy="5232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Total Architecture</a:t>
            </a:r>
            <a:endParaRPr lang="ko-KR" altLang="en-US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F47D6CF-1296-9C34-E73D-0F8E78EB89E4}"/>
              </a:ext>
            </a:extLst>
          </p:cNvPr>
          <p:cNvSpPr/>
          <p:nvPr/>
        </p:nvSpPr>
        <p:spPr>
          <a:xfrm>
            <a:off x="5044114" y="2049388"/>
            <a:ext cx="6988628" cy="159086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예</a:t>
            </a:r>
            <a:r>
              <a:rPr lang="en-US" altLang="ko-KR" dirty="0">
                <a:solidFill>
                  <a:schemeClr val="tx1"/>
                </a:solidFill>
              </a:rPr>
              <a:t>. Eng. -&gt; French.</a:t>
            </a:r>
          </a:p>
          <a:p>
            <a:r>
              <a:rPr lang="en-US" altLang="ko-KR" b="1" dirty="0">
                <a:solidFill>
                  <a:schemeClr val="tx1"/>
                </a:solidFill>
              </a:rPr>
              <a:t>“I am a student” -&gt; “</a:t>
            </a:r>
            <a:r>
              <a:rPr lang="fr-FR" altLang="ko-KR" b="1" dirty="0">
                <a:solidFill>
                  <a:schemeClr val="tx1"/>
                </a:solidFill>
              </a:rPr>
              <a:t>Je suis étudiant »</a:t>
            </a:r>
          </a:p>
          <a:p>
            <a:endParaRPr lang="en-US" altLang="ko-KR" dirty="0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1"/>
                </a:solidFill>
              </a:rPr>
              <a:t>Input token: </a:t>
            </a:r>
            <a:r>
              <a:rPr lang="en-US" altLang="ko-KR" b="1" dirty="0">
                <a:solidFill>
                  <a:schemeClr val="tx1"/>
                </a:solidFill>
              </a:rPr>
              <a:t>[I, am, a, student]</a:t>
            </a: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1"/>
                </a:solidFill>
              </a:rPr>
              <a:t>Target token: </a:t>
            </a:r>
            <a:r>
              <a:rPr lang="en-US" altLang="ko-KR" b="1" dirty="0">
                <a:solidFill>
                  <a:schemeClr val="tx1"/>
                </a:solidFill>
              </a:rPr>
              <a:t>[</a:t>
            </a:r>
            <a:r>
              <a:rPr lang="fr-FR" altLang="ko-KR" b="1" dirty="0">
                <a:solidFill>
                  <a:schemeClr val="tx1"/>
                </a:solidFill>
              </a:rPr>
              <a:t>Je, suis, étudiant]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5797CD4-77D7-DCDF-BA87-B2B9DDC3D23C}"/>
              </a:ext>
            </a:extLst>
          </p:cNvPr>
          <p:cNvSpPr/>
          <p:nvPr/>
        </p:nvSpPr>
        <p:spPr>
          <a:xfrm>
            <a:off x="2687216" y="902752"/>
            <a:ext cx="1017037" cy="41286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D314035-D86F-FB9A-51C5-4218BBB67905}"/>
              </a:ext>
            </a:extLst>
          </p:cNvPr>
          <p:cNvSpPr/>
          <p:nvPr/>
        </p:nvSpPr>
        <p:spPr>
          <a:xfrm>
            <a:off x="1011601" y="902752"/>
            <a:ext cx="1601613" cy="41286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다음 </a:t>
            </a:r>
            <a:r>
              <a:rPr lang="en-US" altLang="ko-KR" sz="1400" b="1" dirty="0">
                <a:solidFill>
                  <a:schemeClr val="tx1"/>
                </a:solidFill>
              </a:rPr>
              <a:t>token </a:t>
            </a:r>
            <a:r>
              <a:rPr lang="ko-KR" altLang="en-US" sz="1400" b="1" dirty="0">
                <a:solidFill>
                  <a:schemeClr val="tx1"/>
                </a:solidFill>
              </a:rPr>
              <a:t>예측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BDDD416-A691-871D-8EED-A7AF942AD05C}"/>
              </a:ext>
            </a:extLst>
          </p:cNvPr>
          <p:cNvSpPr/>
          <p:nvPr/>
        </p:nvSpPr>
        <p:spPr>
          <a:xfrm>
            <a:off x="3704253" y="5379835"/>
            <a:ext cx="1483568" cy="41286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Decoder Input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4F716F0-8321-FC0C-8EB2-F77A6B4FA8E4}"/>
              </a:ext>
            </a:extLst>
          </p:cNvPr>
          <p:cNvSpPr/>
          <p:nvPr/>
        </p:nvSpPr>
        <p:spPr>
          <a:xfrm>
            <a:off x="401215" y="5379835"/>
            <a:ext cx="1411191" cy="41286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Encoder Input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2829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1586D-535C-6A6C-BF29-E19FAE78D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592BF02E-DFE2-469D-D7C8-9E746D770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45" y="2528178"/>
            <a:ext cx="7870500" cy="4189810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8554807-1BA3-9F61-94C0-202CDF427E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B72A3B6-EA28-1E5C-8941-3899879AADB8}"/>
              </a:ext>
            </a:extLst>
          </p:cNvPr>
          <p:cNvSpPr txBox="1"/>
          <p:nvPr/>
        </p:nvSpPr>
        <p:spPr>
          <a:xfrm>
            <a:off x="890945" y="88562"/>
            <a:ext cx="1102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 startAt="2"/>
              <a:defRPr/>
            </a:pPr>
            <a:r>
              <a:rPr lang="en-US" altLang="ko-KR" sz="2800" b="1" dirty="0"/>
              <a:t>Model Architecture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328816E-0CEE-9AF5-EF15-BDB30CBCE8B2}"/>
              </a:ext>
            </a:extLst>
          </p:cNvPr>
          <p:cNvSpPr/>
          <p:nvPr/>
        </p:nvSpPr>
        <p:spPr>
          <a:xfrm>
            <a:off x="4744487" y="740769"/>
            <a:ext cx="6988628" cy="159086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예</a:t>
            </a:r>
            <a:r>
              <a:rPr lang="en-US" altLang="ko-KR" dirty="0">
                <a:solidFill>
                  <a:schemeClr val="tx1"/>
                </a:solidFill>
              </a:rPr>
              <a:t>. Eng. -&gt; French.</a:t>
            </a:r>
          </a:p>
          <a:p>
            <a:r>
              <a:rPr lang="en-US" altLang="ko-KR" b="1" dirty="0">
                <a:solidFill>
                  <a:schemeClr val="tx1"/>
                </a:solidFill>
              </a:rPr>
              <a:t>“I am a student” -&gt; “</a:t>
            </a:r>
            <a:r>
              <a:rPr lang="fr-FR" altLang="ko-KR" b="1" dirty="0">
                <a:solidFill>
                  <a:schemeClr val="tx1"/>
                </a:solidFill>
              </a:rPr>
              <a:t>Je suis étudiant »</a:t>
            </a:r>
          </a:p>
          <a:p>
            <a:endParaRPr lang="en-US" altLang="ko-KR" dirty="0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1"/>
                </a:solidFill>
              </a:rPr>
              <a:t>Input token: </a:t>
            </a:r>
            <a:r>
              <a:rPr lang="en-US" altLang="ko-KR" b="1" dirty="0">
                <a:solidFill>
                  <a:schemeClr val="tx1"/>
                </a:solidFill>
              </a:rPr>
              <a:t>[I, am, a, student]</a:t>
            </a: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1"/>
                </a:solidFill>
              </a:rPr>
              <a:t>Target token: </a:t>
            </a:r>
            <a:r>
              <a:rPr lang="en-US" altLang="ko-KR" b="1" dirty="0">
                <a:solidFill>
                  <a:schemeClr val="tx1"/>
                </a:solidFill>
              </a:rPr>
              <a:t>[</a:t>
            </a:r>
            <a:r>
              <a:rPr lang="fr-FR" altLang="ko-KR" b="1" dirty="0">
                <a:solidFill>
                  <a:schemeClr val="tx1"/>
                </a:solidFill>
              </a:rPr>
              <a:t>Je, suis, étudiant]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2A00918-0123-1A73-3C52-ACDE17138568}"/>
              </a:ext>
            </a:extLst>
          </p:cNvPr>
          <p:cNvSpPr/>
          <p:nvPr/>
        </p:nvSpPr>
        <p:spPr>
          <a:xfrm>
            <a:off x="1838523" y="5398497"/>
            <a:ext cx="807868" cy="41286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시작 </a:t>
            </a:r>
            <a:r>
              <a:rPr lang="en-US" altLang="ko-KR" sz="1400" b="1" dirty="0">
                <a:solidFill>
                  <a:schemeClr val="tx1"/>
                </a:solidFill>
              </a:rPr>
              <a:t>token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DD1438A-E52A-5AD2-00FB-6548ADC7247F}"/>
              </a:ext>
            </a:extLst>
          </p:cNvPr>
          <p:cNvSpPr/>
          <p:nvPr/>
        </p:nvSpPr>
        <p:spPr>
          <a:xfrm>
            <a:off x="6401182" y="4687263"/>
            <a:ext cx="1501836" cy="31001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maximized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AF2AD30-3539-093E-11FE-969345D95015}"/>
              </a:ext>
            </a:extLst>
          </p:cNvPr>
          <p:cNvSpPr/>
          <p:nvPr/>
        </p:nvSpPr>
        <p:spPr>
          <a:xfrm>
            <a:off x="975637" y="1186246"/>
            <a:ext cx="2150117" cy="52322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Learning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99981B70-D92A-727A-7769-8E6F28377F2C}"/>
              </a:ext>
            </a:extLst>
          </p:cNvPr>
          <p:cNvCxnSpPr>
            <a:cxnSpLocks/>
          </p:cNvCxnSpPr>
          <p:nvPr/>
        </p:nvCxnSpPr>
        <p:spPr>
          <a:xfrm>
            <a:off x="8173616" y="5215812"/>
            <a:ext cx="116019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6A95BF2-9EAF-A46F-C773-B479693BC151}"/>
              </a:ext>
            </a:extLst>
          </p:cNvPr>
          <p:cNvSpPr/>
          <p:nvPr/>
        </p:nvSpPr>
        <p:spPr>
          <a:xfrm>
            <a:off x="9573591" y="5060803"/>
            <a:ext cx="1501836" cy="31001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Loss </a:t>
            </a:r>
            <a:r>
              <a:rPr lang="en-US" altLang="ko-KR" sz="1400" b="1" dirty="0" err="1">
                <a:solidFill>
                  <a:schemeClr val="tx1"/>
                </a:solidFill>
              </a:rPr>
              <a:t>ftn</a:t>
            </a:r>
            <a:r>
              <a:rPr lang="en-US" altLang="ko-KR" sz="1400" b="1" dirty="0">
                <a:solidFill>
                  <a:schemeClr val="tx1"/>
                </a:solidFill>
              </a:rPr>
              <a:t>.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1349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5352D-565D-BA91-B902-CC7D5E379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B3E8295-44F4-4409-AE0E-8FC368FAF1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7</a:t>
            </a:fld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3904F81-55A8-AEEA-FBDD-DDA192DE157C}"/>
              </a:ext>
            </a:extLst>
          </p:cNvPr>
          <p:cNvSpPr txBox="1"/>
          <p:nvPr/>
        </p:nvSpPr>
        <p:spPr>
          <a:xfrm>
            <a:off x="890945" y="88562"/>
            <a:ext cx="1102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 startAt="2"/>
              <a:defRPr/>
            </a:pPr>
            <a:r>
              <a:rPr lang="en-US" altLang="ko-KR" sz="2800" b="1" dirty="0"/>
              <a:t>Model Architecture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EC5EEE-79B9-69EE-C5A4-01EC11C229C3}"/>
              </a:ext>
            </a:extLst>
          </p:cNvPr>
          <p:cNvSpPr/>
          <p:nvPr/>
        </p:nvSpPr>
        <p:spPr>
          <a:xfrm>
            <a:off x="4744487" y="740769"/>
            <a:ext cx="6988628" cy="159086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예</a:t>
            </a:r>
            <a:r>
              <a:rPr lang="en-US" altLang="ko-KR" dirty="0">
                <a:solidFill>
                  <a:schemeClr val="tx1"/>
                </a:solidFill>
              </a:rPr>
              <a:t>. Eng. -&gt; French.</a:t>
            </a:r>
          </a:p>
          <a:p>
            <a:r>
              <a:rPr lang="en-US" altLang="ko-KR" b="1" dirty="0">
                <a:solidFill>
                  <a:schemeClr val="tx1"/>
                </a:solidFill>
              </a:rPr>
              <a:t>“I am a student” -&gt; “</a:t>
            </a:r>
            <a:r>
              <a:rPr lang="fr-FR" altLang="ko-KR" b="1" dirty="0">
                <a:solidFill>
                  <a:schemeClr val="tx1"/>
                </a:solidFill>
              </a:rPr>
              <a:t>Je suis étudiant »</a:t>
            </a:r>
          </a:p>
          <a:p>
            <a:endParaRPr lang="en-US" altLang="ko-KR" dirty="0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1"/>
                </a:solidFill>
              </a:rPr>
              <a:t>Input token: </a:t>
            </a:r>
            <a:r>
              <a:rPr lang="en-US" altLang="ko-KR" b="1" dirty="0">
                <a:solidFill>
                  <a:schemeClr val="tx1"/>
                </a:solidFill>
              </a:rPr>
              <a:t>[I, am, a, student]</a:t>
            </a: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1"/>
                </a:solidFill>
              </a:rPr>
              <a:t>Target token: </a:t>
            </a:r>
            <a:r>
              <a:rPr lang="en-US" altLang="ko-KR" b="1" dirty="0">
                <a:solidFill>
                  <a:schemeClr val="tx1"/>
                </a:solidFill>
              </a:rPr>
              <a:t>[</a:t>
            </a:r>
            <a:r>
              <a:rPr lang="fr-FR" altLang="ko-KR" b="1" dirty="0">
                <a:solidFill>
                  <a:schemeClr val="tx1"/>
                </a:solidFill>
              </a:rPr>
              <a:t>Je, suis, étudiant]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6B4F81B-6818-C931-A958-05B6EB9D519E}"/>
              </a:ext>
            </a:extLst>
          </p:cNvPr>
          <p:cNvSpPr/>
          <p:nvPr/>
        </p:nvSpPr>
        <p:spPr>
          <a:xfrm>
            <a:off x="975637" y="1186246"/>
            <a:ext cx="2150117" cy="52322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Inference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29B0616-B38F-DBAE-139C-2B323171C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45" y="2460625"/>
            <a:ext cx="7777194" cy="4214364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F9F5BA89-9022-51A1-F941-1F4780354ED8}"/>
              </a:ext>
            </a:extLst>
          </p:cNvPr>
          <p:cNvSpPr/>
          <p:nvPr/>
        </p:nvSpPr>
        <p:spPr>
          <a:xfrm>
            <a:off x="8597040" y="6262125"/>
            <a:ext cx="807868" cy="41286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종료 </a:t>
            </a:r>
            <a:r>
              <a:rPr lang="en-US" altLang="ko-KR" sz="1400" b="1" dirty="0">
                <a:solidFill>
                  <a:schemeClr val="tx1"/>
                </a:solidFill>
              </a:rPr>
              <a:t>token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1949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5E327-5CFF-E8A8-4870-2AF2CC9C6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573638E-CB30-E2B6-8EB8-1239CFFE3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8</a:t>
            </a:fld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FD9FB45-68EF-5F54-6334-0E801CE59AEB}"/>
              </a:ext>
            </a:extLst>
          </p:cNvPr>
          <p:cNvSpPr txBox="1"/>
          <p:nvPr/>
        </p:nvSpPr>
        <p:spPr>
          <a:xfrm>
            <a:off x="890945" y="88562"/>
            <a:ext cx="1102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 startAt="2"/>
              <a:defRPr/>
            </a:pPr>
            <a:r>
              <a:rPr lang="en-US" altLang="ko-KR" sz="2800" b="1" dirty="0"/>
              <a:t>Model Architecture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80B4158-EF3D-2641-AE27-CD9F39832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44" y="692906"/>
            <a:ext cx="4366985" cy="369248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853D0CE-4CFA-9512-1855-72ECADD34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8996" y="692907"/>
            <a:ext cx="6348012" cy="6000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385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255AF-6A32-CD7A-44B9-6366661E2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FB34E48-D82D-9827-41D4-AA2EE59608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9</a:t>
            </a:fld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93BE1C1-EACB-6AB5-75B1-5206C62047D2}"/>
              </a:ext>
            </a:extLst>
          </p:cNvPr>
          <p:cNvSpPr txBox="1"/>
          <p:nvPr/>
        </p:nvSpPr>
        <p:spPr>
          <a:xfrm>
            <a:off x="890945" y="88562"/>
            <a:ext cx="1102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 startAt="2"/>
              <a:defRPr/>
            </a:pPr>
            <a:r>
              <a:rPr lang="en-US" altLang="ko-KR" sz="2800" b="1" dirty="0"/>
              <a:t>Model Architecture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750200E-EC1B-FCC8-53D2-D61686482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142" y="908943"/>
            <a:ext cx="4739747" cy="4596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265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F38ED-C149-C86A-44F1-66F3646AA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799A469-5F69-CFE2-89D2-C62E0E896B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10</a:t>
            </a:fld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199C68C-37AA-0792-D9BA-CF643F98C14E}"/>
              </a:ext>
            </a:extLst>
          </p:cNvPr>
          <p:cNvSpPr txBox="1"/>
          <p:nvPr/>
        </p:nvSpPr>
        <p:spPr>
          <a:xfrm>
            <a:off x="890945" y="88562"/>
            <a:ext cx="1102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 startAt="2"/>
              <a:defRPr/>
            </a:pPr>
            <a:r>
              <a:rPr lang="en-US" altLang="ko-KR" sz="2800" b="1" dirty="0"/>
              <a:t>Model Architecture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63D8A30-A2B1-7402-6260-4A4631307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46" y="778315"/>
            <a:ext cx="2369283" cy="37303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87D5531-0AE5-5254-F009-E2EB5FEC54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945" y="1251534"/>
            <a:ext cx="6881455" cy="3859253"/>
          </a:xfrm>
          <a:prstGeom prst="rect">
            <a:avLst/>
          </a:prstGeom>
        </p:spPr>
      </p:pic>
      <p:pic>
        <p:nvPicPr>
          <p:cNvPr id="8" name="그림 7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169E621-839D-A996-DAA4-5C970B8627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0787" y="964832"/>
            <a:ext cx="2743200" cy="432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135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9BB58-4373-7E2F-0B8B-6F2EDC984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C8B62ED-E923-AA31-7817-404E6A1506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11</a:t>
            </a:fld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85BEEEE-C1FD-E093-0BAA-4C8F1D1EBD3E}"/>
              </a:ext>
            </a:extLst>
          </p:cNvPr>
          <p:cNvSpPr txBox="1"/>
          <p:nvPr/>
        </p:nvSpPr>
        <p:spPr>
          <a:xfrm>
            <a:off x="890945" y="88562"/>
            <a:ext cx="1102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 startAt="2"/>
              <a:defRPr/>
            </a:pPr>
            <a:r>
              <a:rPr lang="en-US" altLang="ko-KR" sz="2800" b="1" dirty="0"/>
              <a:t>Model Architecture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EA94816-D3F5-2B76-19AA-B82683780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45" y="876251"/>
            <a:ext cx="2484335" cy="2903472"/>
          </a:xfrm>
          <a:prstGeom prst="rect">
            <a:avLst/>
          </a:prstGeom>
        </p:spPr>
      </p:pic>
      <p:pic>
        <p:nvPicPr>
          <p:cNvPr id="5" name="그림 4" descr="텍스트, 도표, 스크린샷, 평면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53A1740-2ED1-DB90-741C-F3C31EA9ED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572" y="874944"/>
            <a:ext cx="3822299" cy="5809557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1F3BBAB6-F0FA-FD1A-95C7-6E49C84EC83C}"/>
              </a:ext>
            </a:extLst>
          </p:cNvPr>
          <p:cNvSpPr/>
          <p:nvPr/>
        </p:nvSpPr>
        <p:spPr>
          <a:xfrm>
            <a:off x="5044114" y="902752"/>
            <a:ext cx="3722915" cy="5232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Total Architecture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716900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4F908-FB41-F5A6-B4F7-BE164B3F9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8B081BD-25BF-B8B3-DA98-E2B79DDF6F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12</a:t>
            </a:fld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0D77B7B-976D-7898-99DF-3CDE5240E036}"/>
              </a:ext>
            </a:extLst>
          </p:cNvPr>
          <p:cNvSpPr txBox="1"/>
          <p:nvPr/>
        </p:nvSpPr>
        <p:spPr>
          <a:xfrm>
            <a:off x="890945" y="88562"/>
            <a:ext cx="1102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 startAt="2"/>
              <a:defRPr/>
            </a:pPr>
            <a:r>
              <a:rPr lang="en-US" altLang="ko-KR" sz="2800" b="1" dirty="0"/>
              <a:t>Model Architecture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895182E-8A62-5AAB-F1F7-80D15C844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45" y="677941"/>
            <a:ext cx="6538527" cy="5502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0221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40A31-55D9-7082-5479-76A3E179D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AFBFF83-221B-4D89-EF55-BCE77FD780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13</a:t>
            </a:fld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A8B4034-2C61-A2D6-5169-233C98C2E6AA}"/>
              </a:ext>
            </a:extLst>
          </p:cNvPr>
          <p:cNvSpPr txBox="1"/>
          <p:nvPr/>
        </p:nvSpPr>
        <p:spPr>
          <a:xfrm>
            <a:off x="890945" y="88562"/>
            <a:ext cx="1102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 startAt="2"/>
              <a:defRPr/>
            </a:pPr>
            <a:r>
              <a:rPr lang="en-US" altLang="ko-KR" sz="2800" b="1" dirty="0"/>
              <a:t>Model Architecture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475F362-97E0-655B-70D7-E420CCA4A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164" y="998009"/>
            <a:ext cx="5494496" cy="486198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DAB4E7F-BDB4-58E7-829B-56ACD138D8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926" y="975528"/>
            <a:ext cx="5192792" cy="5793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7409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86610-191B-8064-AA8C-A64E4971E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FC56866-0332-A589-73E1-4BE0BE402D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14</a:t>
            </a:fld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39A523E-8D32-2963-F90F-02F09D007CC1}"/>
              </a:ext>
            </a:extLst>
          </p:cNvPr>
          <p:cNvSpPr txBox="1"/>
          <p:nvPr/>
        </p:nvSpPr>
        <p:spPr>
          <a:xfrm>
            <a:off x="890945" y="88562"/>
            <a:ext cx="1102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 startAt="2"/>
              <a:defRPr/>
            </a:pPr>
            <a:r>
              <a:rPr lang="en-US" altLang="ko-KR" sz="2800" b="1" dirty="0"/>
              <a:t>Model Architecture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BF0A8C7-B49B-E822-0427-C2A9A52BD9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2146"/>
          <a:stretch>
            <a:fillRect/>
          </a:stretch>
        </p:blipFill>
        <p:spPr>
          <a:xfrm>
            <a:off x="778340" y="1130517"/>
            <a:ext cx="5538483" cy="380751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E6C44BA-5CEE-0F14-B96A-773BA32149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854"/>
          <a:stretch>
            <a:fillRect/>
          </a:stretch>
        </p:blipFill>
        <p:spPr>
          <a:xfrm>
            <a:off x="6208756" y="1848974"/>
            <a:ext cx="5549066" cy="27790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6A5C02E-17BC-847E-3CBB-0D140E57F6F8}"/>
              </a:ext>
            </a:extLst>
          </p:cNvPr>
          <p:cNvSpPr txBox="1"/>
          <p:nvPr/>
        </p:nvSpPr>
        <p:spPr>
          <a:xfrm>
            <a:off x="2211354" y="4040155"/>
            <a:ext cx="712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K   V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AC9E7F-EB25-D964-4DC4-27C4F29439A5}"/>
              </a:ext>
            </a:extLst>
          </p:cNvPr>
          <p:cNvSpPr txBox="1"/>
          <p:nvPr/>
        </p:nvSpPr>
        <p:spPr>
          <a:xfrm>
            <a:off x="3547581" y="4040155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Q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1D2B94-14F2-D6B9-75F8-569062755CA3}"/>
              </a:ext>
            </a:extLst>
          </p:cNvPr>
          <p:cNvSpPr txBox="1"/>
          <p:nvPr/>
        </p:nvSpPr>
        <p:spPr>
          <a:xfrm>
            <a:off x="7195529" y="3750906"/>
            <a:ext cx="712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K   V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420785-BC9D-20C7-B46A-1164E57D922A}"/>
              </a:ext>
            </a:extLst>
          </p:cNvPr>
          <p:cNvSpPr txBox="1"/>
          <p:nvPr/>
        </p:nvSpPr>
        <p:spPr>
          <a:xfrm>
            <a:off x="8353824" y="3750906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Q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5897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06BDA-584F-50A3-217B-6C2667C4F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9040B6B-28EF-44D8-A295-687090B7E1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15</a:t>
            </a:fld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68F2EA8-E764-F190-8201-213F18457C0B}"/>
              </a:ext>
            </a:extLst>
          </p:cNvPr>
          <p:cNvSpPr txBox="1"/>
          <p:nvPr/>
        </p:nvSpPr>
        <p:spPr>
          <a:xfrm>
            <a:off x="890945" y="88562"/>
            <a:ext cx="1102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 startAt="2"/>
              <a:defRPr/>
            </a:pPr>
            <a:r>
              <a:rPr lang="en-US" altLang="ko-KR" sz="2800" b="1" dirty="0"/>
              <a:t>Model Architecture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9604B63-3CD3-AD61-BE20-5E1194D6F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46" y="744231"/>
            <a:ext cx="4978010" cy="198191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4ADF3E5-99B3-568A-805A-ACF21D978C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945" y="2291466"/>
            <a:ext cx="6363251" cy="3680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7650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6F5EC-1D48-9418-FF63-7CF748247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DE32760-3467-63D7-7A5B-E5ABAF5C3B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16</a:t>
            </a:fld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BC100FD-E35B-7250-2784-02F07CAE2118}"/>
              </a:ext>
            </a:extLst>
          </p:cNvPr>
          <p:cNvSpPr txBox="1"/>
          <p:nvPr/>
        </p:nvSpPr>
        <p:spPr>
          <a:xfrm>
            <a:off x="890945" y="88562"/>
            <a:ext cx="1102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 startAt="2"/>
              <a:defRPr/>
            </a:pPr>
            <a:r>
              <a:rPr lang="en-US" altLang="ko-KR" sz="2800" b="1" dirty="0"/>
              <a:t>Model Architecture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10548F9-4F6E-B191-C2EF-91382CCB4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45" y="1680366"/>
            <a:ext cx="5991144" cy="41987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그림 3" descr="텍스트, 도표, 스크린샷, 평면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F1E7A0F-A809-B06A-B50B-12D1121E81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7458" y="874944"/>
            <a:ext cx="3822299" cy="5809557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9750C625-D1C7-7796-18AF-237076F90255}"/>
              </a:ext>
            </a:extLst>
          </p:cNvPr>
          <p:cNvSpPr/>
          <p:nvPr/>
        </p:nvSpPr>
        <p:spPr>
          <a:xfrm>
            <a:off x="6096000" y="902752"/>
            <a:ext cx="3722915" cy="5232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Total Architecture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609948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0FDAD-AF83-B879-C5D9-F905FF379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C92CECD-13F5-03DD-7665-65F91A38A6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17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C7B0DF-6E00-6149-045D-D32D4686C308}"/>
              </a:ext>
            </a:extLst>
          </p:cNvPr>
          <p:cNvSpPr txBox="1"/>
          <p:nvPr/>
        </p:nvSpPr>
        <p:spPr>
          <a:xfrm>
            <a:off x="890945" y="88562"/>
            <a:ext cx="1102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 startAt="3"/>
              <a:defRPr/>
            </a:pPr>
            <a:r>
              <a:rPr lang="en-US" altLang="ko-KR" sz="2800" b="1" dirty="0"/>
              <a:t>Why Self-Attention</a:t>
            </a:r>
            <a:endParaRPr lang="ko-KR" altLang="en-US" sz="2800" b="1" dirty="0"/>
          </a:p>
        </p:txBody>
      </p:sp>
      <p:pic>
        <p:nvPicPr>
          <p:cNvPr id="9" name="그림 8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918D12F-5D45-7F59-0721-6E09A88D9B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554" y="1681324"/>
            <a:ext cx="10066892" cy="3010161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31D6B62A-EF50-2462-76A3-63A9E32E74A5}"/>
              </a:ext>
            </a:extLst>
          </p:cNvPr>
          <p:cNvSpPr/>
          <p:nvPr/>
        </p:nvSpPr>
        <p:spPr>
          <a:xfrm>
            <a:off x="1539551" y="3429000"/>
            <a:ext cx="9190653" cy="365125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8923249"/>
      </p:ext>
    </p:extLst>
  </p:cSld>
  <p:clrMapOvr>
    <a:masterClrMapping/>
  </p:clrMapOvr>
</p:sld>
</file>

<file path=ppt/theme/theme1.xml><?xml version="1.0" encoding="utf-8"?>
<a:theme xmlns:a="http://schemas.openxmlformats.org/drawingml/2006/main" name="DGIST Data Science Lab">
  <a:themeElements>
    <a:clrScheme name="템플릿 색상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84B60"/>
      </a:accent1>
      <a:accent2>
        <a:srgbClr val="F8F7F2"/>
      </a:accent2>
      <a:accent3>
        <a:srgbClr val="B2DAFA"/>
      </a:accent3>
      <a:accent4>
        <a:srgbClr val="FDFDE9"/>
      </a:accent4>
      <a:accent5>
        <a:srgbClr val="5B9BD5"/>
      </a:accent5>
      <a:accent6>
        <a:srgbClr val="AABACC"/>
      </a:accent6>
      <a:hlink>
        <a:srgbClr val="6F7985"/>
      </a:hlink>
      <a:folHlink>
        <a:srgbClr val="954F72"/>
      </a:folHlink>
    </a:clrScheme>
    <a:fontScheme name="사용자 지정 1">
      <a:majorFont>
        <a:latin typeface="나눔스퀘어 네오 Heavy"/>
        <a:ea typeface="나눔스퀘어 네오 ExtraBold"/>
        <a:cs typeface=""/>
      </a:majorFont>
      <a:minorFont>
        <a:latin typeface="나눔스퀘어 네오 Regular"/>
        <a:ea typeface="나눔스퀘어 네오 Bol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1113</TotalTime>
  <Words>242</Words>
  <Application>Microsoft Office PowerPoint</Application>
  <PresentationFormat>와이드스크린</PresentationFormat>
  <Paragraphs>71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5" baseType="lpstr">
      <vt:lpstr>Arial Unicode MS</vt:lpstr>
      <vt:lpstr>나눔스퀘어 네오 Heavy</vt:lpstr>
      <vt:lpstr>나눔스퀘어 네오 Regular</vt:lpstr>
      <vt:lpstr>맑은 고딕</vt:lpstr>
      <vt:lpstr>Arial</vt:lpstr>
      <vt:lpstr>Calibri</vt:lpstr>
      <vt:lpstr>Wingdings</vt:lpstr>
      <vt:lpstr>DGIST Data Science Lab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최수로</dc:creator>
  <cp:lastModifiedBy>서정호</cp:lastModifiedBy>
  <cp:revision>62</cp:revision>
  <dcterms:created xsi:type="dcterms:W3CDTF">2024-07-02T23:39:06Z</dcterms:created>
  <dcterms:modified xsi:type="dcterms:W3CDTF">2025-07-22T04:17:43Z</dcterms:modified>
</cp:coreProperties>
</file>