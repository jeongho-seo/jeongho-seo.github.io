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8" r:id="rId2"/>
    <p:sldId id="419" r:id="rId3"/>
    <p:sldId id="420" r:id="rId4"/>
    <p:sldId id="425" r:id="rId5"/>
    <p:sldId id="426" r:id="rId6"/>
    <p:sldId id="427" r:id="rId7"/>
    <p:sldId id="422" r:id="rId8"/>
    <p:sldId id="428" r:id="rId9"/>
    <p:sldId id="441" r:id="rId10"/>
    <p:sldId id="423" r:id="rId11"/>
    <p:sldId id="429" r:id="rId12"/>
    <p:sldId id="430" r:id="rId13"/>
    <p:sldId id="431" r:id="rId14"/>
    <p:sldId id="432" r:id="rId15"/>
    <p:sldId id="433" r:id="rId16"/>
    <p:sldId id="434" r:id="rId17"/>
    <p:sldId id="424" r:id="rId18"/>
    <p:sldId id="438" r:id="rId19"/>
    <p:sldId id="435" r:id="rId20"/>
    <p:sldId id="436" r:id="rId21"/>
    <p:sldId id="437" r:id="rId22"/>
    <p:sldId id="439" r:id="rId23"/>
    <p:sldId id="44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0B4D8F-3CA7-4C19-87DC-03324C33B426}">
          <p14:sldIdLst>
            <p14:sldId id="258"/>
            <p14:sldId id="419"/>
          </p14:sldIdLst>
        </p14:section>
        <p14:section name="Proposal" id="{4253E8E0-7C59-43D6-B014-93B779B1E09F}">
          <p14:sldIdLst>
            <p14:sldId id="420"/>
            <p14:sldId id="425"/>
            <p14:sldId id="426"/>
            <p14:sldId id="427"/>
          </p14:sldIdLst>
        </p14:section>
        <p14:section name="Primary Knowledge" id="{D9E7BD34-F32F-4A01-9204-C85640CE0DB0}">
          <p14:sldIdLst>
            <p14:sldId id="422"/>
            <p14:sldId id="428"/>
          </p14:sldIdLst>
        </p14:section>
        <p14:section name="Framework" id="{ACC07D2B-BCFC-43AA-B4A6-653D8EFE421B}">
          <p14:sldIdLst>
            <p14:sldId id="441"/>
            <p14:sldId id="423"/>
            <p14:sldId id="429"/>
            <p14:sldId id="430"/>
            <p14:sldId id="431"/>
            <p14:sldId id="432"/>
            <p14:sldId id="433"/>
            <p14:sldId id="434"/>
          </p14:sldIdLst>
        </p14:section>
        <p14:section name="Experiments" id="{D30501CF-80DD-4C62-A63F-D6E8F4CF78AD}">
          <p14:sldIdLst>
            <p14:sldId id="424"/>
            <p14:sldId id="438"/>
            <p14:sldId id="435"/>
            <p14:sldId id="436"/>
            <p14:sldId id="437"/>
            <p14:sldId id="439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AC801-AD1E-4E86-A700-2C343F9158A1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AD7CE-5464-4C83-A6CE-290DE65F1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31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2F2ABC9-ECD3-D6CF-B15A-4CFDA403D3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B3ABC582-8FE1-663C-50ED-6C6521AE6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29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0F81EE0-ED20-8BE9-EBB4-B3C83279394D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A4932-DDEB-F643-EFBF-C4B1F73A7AC6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34053-AB8F-3D78-5D1B-185AF666F2F5}"/>
              </a:ext>
            </a:extLst>
          </p:cNvPr>
          <p:cNvSpPr txBox="1"/>
          <p:nvPr userDrawn="1"/>
        </p:nvSpPr>
        <p:spPr>
          <a:xfrm>
            <a:off x="788670" y="230356"/>
            <a:ext cx="4720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ko-KR" altLang="en-US" sz="4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444DE1-6479-1956-D697-CD4B06D9395D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4F77F9D5-58F2-5762-5303-50C1BC92B1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B646D40-A4B2-8411-E62B-4BA4E8049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33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D751CD70-14D9-A5E5-C141-381AB71232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C8C17B6-8F84-E5A2-A544-8CC9D13A7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614033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14619B28-0CAC-4F9C-34AF-6687E9251D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E60C301-CADF-772B-65D8-411358FCE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09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강조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BED5A5-A093-F651-8D82-03ECA441EA3E}"/>
              </a:ext>
            </a:extLst>
          </p:cNvPr>
          <p:cNvSpPr txBox="1"/>
          <p:nvPr userDrawn="1"/>
        </p:nvSpPr>
        <p:spPr>
          <a:xfrm>
            <a:off x="3038475" y="1346954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4"/>
                </a:solidFill>
              </a:rPr>
              <a:t>AGENDA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138BAE-13AC-BA75-4581-7C6EF932BB1F}"/>
              </a:ext>
            </a:extLst>
          </p:cNvPr>
          <p:cNvCxnSpPr>
            <a:cxnSpLocks/>
          </p:cNvCxnSpPr>
          <p:nvPr userDrawn="1"/>
        </p:nvCxnSpPr>
        <p:spPr>
          <a:xfrm>
            <a:off x="2364105" y="2613695"/>
            <a:ext cx="7463790" cy="7728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37E5A58-7311-2399-D80F-83C1BB0C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68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E9D58C4-A221-0470-4225-5C241DA4EF16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F3179-991F-370F-47D8-30E51163ED61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65628F9-EEB3-747C-CE0A-FD86F331D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94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6" r:id="rId4"/>
    <p:sldLayoutId id="214748366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0874E-66EF-C5BC-F826-826B85386E4B}"/>
              </a:ext>
            </a:extLst>
          </p:cNvPr>
          <p:cNvSpPr txBox="1"/>
          <p:nvPr/>
        </p:nvSpPr>
        <p:spPr>
          <a:xfrm>
            <a:off x="102773" y="649508"/>
            <a:ext cx="11983033" cy="182005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Intervention for Leveraging Popularity Bias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in Recommendation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스퀘어 네오 Heavy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9D438A-A2CA-8A10-C0BC-54B7F6E45163}"/>
              </a:ext>
            </a:extLst>
          </p:cNvPr>
          <p:cNvCxnSpPr>
            <a:cxnSpLocks/>
          </p:cNvCxnSpPr>
          <p:nvPr/>
        </p:nvCxnSpPr>
        <p:spPr>
          <a:xfrm>
            <a:off x="1551754" y="3429002"/>
            <a:ext cx="9552394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1D303D-FF71-3007-E78D-85A36942D882}"/>
              </a:ext>
            </a:extLst>
          </p:cNvPr>
          <p:cNvSpPr txBox="1"/>
          <p:nvPr/>
        </p:nvSpPr>
        <p:spPr>
          <a:xfrm>
            <a:off x="4897182" y="3770231"/>
            <a:ext cx="239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2025.07.24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90E42-977C-379D-722C-311BAEF2A965}"/>
              </a:ext>
            </a:extLst>
          </p:cNvPr>
          <p:cNvSpPr txBox="1"/>
          <p:nvPr/>
        </p:nvSpPr>
        <p:spPr>
          <a:xfrm>
            <a:off x="4999039" y="4576951"/>
            <a:ext cx="219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서정호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65250-D1FF-F396-0E1B-B33E703D9C79}"/>
              </a:ext>
            </a:extLst>
          </p:cNvPr>
          <p:cNvSpPr txBox="1"/>
          <p:nvPr/>
        </p:nvSpPr>
        <p:spPr>
          <a:xfrm>
            <a:off x="1733683" y="187843"/>
            <a:ext cx="872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SIGIR</a:t>
            </a:r>
            <a:r>
              <a:rPr lang="fr-FR" altLang="ko-KR" sz="2400" dirty="0"/>
              <a:t> 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7137E-B747-B01A-2461-023E5BB39B43}"/>
              </a:ext>
            </a:extLst>
          </p:cNvPr>
          <p:cNvSpPr txBox="1"/>
          <p:nvPr/>
        </p:nvSpPr>
        <p:spPr>
          <a:xfrm>
            <a:off x="1551754" y="2764608"/>
            <a:ext cx="9552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altLang="ko-KR" dirty="0"/>
              <a:t>Authors: Yang Zhang et al.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Main </a:t>
            </a:r>
            <a:r>
              <a:rPr lang="ko-KR" altLang="ko-KR" dirty="0" err="1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Affiliation</a:t>
            </a:r>
            <a:r>
              <a:rPr lang="fr-FR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: </a:t>
            </a:r>
            <a:r>
              <a:rPr lang="en-US" altLang="ko-KR" dirty="0"/>
              <a:t>University of Science and Technology of China</a:t>
            </a:r>
            <a:endParaRPr lang="fr-FR" altLang="ko-KR" dirty="0"/>
          </a:p>
        </p:txBody>
      </p:sp>
    </p:spTree>
    <p:extLst>
      <p:ext uri="{BB962C8B-B14F-4D97-AF65-F5344CB8AC3E}">
        <p14:creationId xmlns:p14="http://schemas.microsoft.com/office/powerpoint/2010/main" val="184678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94FE-01E3-DDBE-2A8D-7F3AC97EA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819D6-648F-7667-71CF-3133FE3E8082}"/>
              </a:ext>
            </a:extLst>
          </p:cNvPr>
          <p:cNvSpPr txBox="1"/>
          <p:nvPr/>
        </p:nvSpPr>
        <p:spPr>
          <a:xfrm>
            <a:off x="822121" y="1277385"/>
            <a:ext cx="11020475" cy="245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/>
                <a:cs typeface="+mn-cs"/>
              </a:rPr>
              <a:t>Proposal</a:t>
            </a:r>
          </a:p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ko-KR" sz="2000" b="1" dirty="0">
                <a:latin typeface="나눔스퀘어 네오 Regular"/>
              </a:rPr>
              <a:t>Primary Knowledge</a:t>
            </a:r>
          </a:p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/>
                <a:cs typeface="+mn-cs"/>
              </a:rPr>
              <a:t>Framework</a:t>
            </a:r>
          </a:p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ko-KR" sz="2000" b="1" dirty="0">
                <a:latin typeface="나눔스퀘어 네오 Regular"/>
              </a:rPr>
              <a:t>Experiments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33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1CBA52-BFDE-986C-14F8-D56FCFF06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9F2A0-5115-1219-079F-F8CB536EB40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ADC095F0-2CF9-1032-2D00-F0D1EF1D5491}"/>
              </a:ext>
            </a:extLst>
          </p:cNvPr>
          <p:cNvSpPr txBox="1">
            <a:spLocks/>
          </p:cNvSpPr>
          <p:nvPr/>
        </p:nvSpPr>
        <p:spPr>
          <a:xfrm>
            <a:off x="9333808" y="64043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0853A9-3D91-4627-B377-02682E3E593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111864-6AE7-D955-0B93-B59DD5092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872011"/>
            <a:ext cx="9887881" cy="469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329AF-15C7-007C-84E5-0023FE19F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468AFC-7683-D21A-DC27-4A981169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9A50B-4F19-F252-5A84-048E43A11CF2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FF468F3E-3A0B-153A-AC8D-FE3A39F54099}"/>
              </a:ext>
            </a:extLst>
          </p:cNvPr>
          <p:cNvSpPr txBox="1">
            <a:spLocks/>
          </p:cNvSpPr>
          <p:nvPr/>
        </p:nvSpPr>
        <p:spPr>
          <a:xfrm>
            <a:off x="9333808" y="64043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0853A9-3D91-4627-B377-02682E3E593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B9D8A2-B719-F372-FEFA-4A68188B2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25"/>
          <a:stretch>
            <a:fillRect/>
          </a:stretch>
        </p:blipFill>
        <p:spPr>
          <a:xfrm>
            <a:off x="890944" y="851532"/>
            <a:ext cx="8288997" cy="316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7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B95A-EE6F-2BB6-B019-F92655ED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CF7E40-9F69-2BE7-51E0-43F965D3F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AB277-A262-C346-7BC2-965B6BE28C6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C245EA0-806E-9D00-1FBB-7D50DB70A4C2}"/>
              </a:ext>
            </a:extLst>
          </p:cNvPr>
          <p:cNvSpPr txBox="1">
            <a:spLocks/>
          </p:cNvSpPr>
          <p:nvPr/>
        </p:nvSpPr>
        <p:spPr>
          <a:xfrm>
            <a:off x="9333808" y="64043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0853A9-3D91-4627-B377-02682E3E593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7" name="그림 6" descr="텍스트, 원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559EE8-A69A-839E-167F-29CCE87A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" y="641824"/>
            <a:ext cx="6284296" cy="3549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5C7420-9E25-154E-97EB-00A0BE314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639" y="4171810"/>
            <a:ext cx="7064581" cy="26418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33684DC-3C2B-B0B3-BE2F-E5694221EDD8}"/>
              </a:ext>
            </a:extLst>
          </p:cNvPr>
          <p:cNvSpPr/>
          <p:nvPr/>
        </p:nvSpPr>
        <p:spPr>
          <a:xfrm>
            <a:off x="8537510" y="1068970"/>
            <a:ext cx="2332654" cy="1775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dirty="0"/>
              <a:t>U: User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I: Item </a:t>
            </a:r>
            <a:r>
              <a:rPr lang="en-US" altLang="ko-KR" b="1" dirty="0"/>
              <a:t>Exposure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C: </a:t>
            </a:r>
            <a:r>
              <a:rPr lang="en-US" altLang="ko-KR" b="1" dirty="0"/>
              <a:t>Interaction</a:t>
            </a:r>
            <a:r>
              <a:rPr lang="en-US" altLang="ko-KR" dirty="0"/>
              <a:t> Prob.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Z: Item </a:t>
            </a:r>
            <a:r>
              <a:rPr lang="en-US" altLang="ko-KR" b="1" dirty="0"/>
              <a:t>Popularity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60942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62A5-00ED-8717-F33B-85D79364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BC4089-BBC6-7FD5-B89B-14CBBA0DB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66B54-2427-6CF9-5050-99C392107937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2A9354C6-2A9E-6BFB-6684-274CF627CC4D}"/>
              </a:ext>
            </a:extLst>
          </p:cNvPr>
          <p:cNvSpPr txBox="1">
            <a:spLocks/>
          </p:cNvSpPr>
          <p:nvPr/>
        </p:nvSpPr>
        <p:spPr>
          <a:xfrm>
            <a:off x="9333808" y="64043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0853A9-3D91-4627-B377-02682E3E593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209B71-DA50-CE8E-5826-1645C09B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47" y="936274"/>
            <a:ext cx="9719314" cy="164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3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FDAD-AF83-B879-C5D9-F905FF3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92CECD-13F5-03DD-7665-65F91A38A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7B0DF-6E00-6149-045D-D32D4686C30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Primary Knowledge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C4D393-F9A6-F50F-9496-1C98E969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4" y="836696"/>
            <a:ext cx="8549923" cy="48643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D871D94-388F-7FAC-16FA-D45178B81C48}"/>
              </a:ext>
            </a:extLst>
          </p:cNvPr>
          <p:cNvSpPr/>
          <p:nvPr/>
        </p:nvSpPr>
        <p:spPr>
          <a:xfrm>
            <a:off x="5327780" y="4105469"/>
            <a:ext cx="438538" cy="27058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A8E599-75D5-5232-881D-714C43729A5A}"/>
              </a:ext>
            </a:extLst>
          </p:cNvPr>
          <p:cNvSpPr/>
          <p:nvPr/>
        </p:nvSpPr>
        <p:spPr>
          <a:xfrm>
            <a:off x="8248261" y="4105469"/>
            <a:ext cx="643812" cy="27058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F18C40-75EB-E09E-9F3E-39756D949494}"/>
              </a:ext>
            </a:extLst>
          </p:cNvPr>
          <p:cNvSpPr/>
          <p:nvPr/>
        </p:nvSpPr>
        <p:spPr>
          <a:xfrm>
            <a:off x="8892073" y="2818320"/>
            <a:ext cx="2649894" cy="69955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If whole training set,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Global popularity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04812-DD61-8646-411F-BFE0E5B91243}"/>
              </a:ext>
            </a:extLst>
          </p:cNvPr>
          <p:cNvSpPr/>
          <p:nvPr/>
        </p:nvSpPr>
        <p:spPr>
          <a:xfrm>
            <a:off x="4201160" y="4105469"/>
            <a:ext cx="81280" cy="1352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2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4179-5B3E-B173-3B75-90B8C7D1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CB4F2D-09BA-C74C-45AB-3F8ECF7E8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6D92D-154E-7719-567F-430693EA6FCF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Primary Knowledge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26E15C-ED6F-8EB7-CA01-F0B0FAD14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675613"/>
            <a:ext cx="8125099" cy="60938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F926553-6599-280D-B9D0-62A406CBF5E2}"/>
              </a:ext>
            </a:extLst>
          </p:cNvPr>
          <p:cNvSpPr/>
          <p:nvPr/>
        </p:nvSpPr>
        <p:spPr>
          <a:xfrm>
            <a:off x="5757370" y="3013788"/>
            <a:ext cx="802050" cy="67180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1C96B7-018D-CCCA-3D43-15F1EBB3E29A}"/>
              </a:ext>
            </a:extLst>
          </p:cNvPr>
          <p:cNvSpPr/>
          <p:nvPr/>
        </p:nvSpPr>
        <p:spPr>
          <a:xfrm>
            <a:off x="4255140" y="2248678"/>
            <a:ext cx="1053977" cy="33590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A54CB1-627C-9358-9972-17AA78135C1C}"/>
              </a:ext>
            </a:extLst>
          </p:cNvPr>
          <p:cNvSpPr/>
          <p:nvPr/>
        </p:nvSpPr>
        <p:spPr>
          <a:xfrm>
            <a:off x="6830389" y="3181739"/>
            <a:ext cx="2743200" cy="33590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Popularity </a:t>
            </a:r>
            <a:r>
              <a:rPr lang="ko-KR" altLang="en-US" b="1" dirty="0">
                <a:solidFill>
                  <a:schemeClr val="tx1"/>
                </a:solidFill>
              </a:rPr>
              <a:t>차이가 크다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52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A910-A625-B164-51D7-2B42C219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02FD21-3B94-A067-114C-1B16DE297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9C9FE-2209-BB53-CD34-7EBC7DB4329D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pic>
        <p:nvPicPr>
          <p:cNvPr id="5" name="그림 4" descr="원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FFC5F-F46D-69EB-201E-C9379D9A9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65" y="3429000"/>
            <a:ext cx="1940767" cy="2164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564FA-A90B-915E-6738-F6B5BF2F83FF}"/>
              </a:ext>
            </a:extLst>
          </p:cNvPr>
          <p:cNvSpPr txBox="1"/>
          <p:nvPr/>
        </p:nvSpPr>
        <p:spPr>
          <a:xfrm>
            <a:off x="890945" y="804379"/>
            <a:ext cx="278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Deconfounded Training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3440202-ECE4-B0F9-B057-29DB1A6B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94" y="1678732"/>
            <a:ext cx="8588484" cy="3856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EA5F14-69A1-148C-04D0-1C216C3FF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848" y="2421296"/>
            <a:ext cx="4773730" cy="588312"/>
          </a:xfrm>
          <a:prstGeom prst="rect">
            <a:avLst/>
          </a:prstGeom>
        </p:spPr>
      </p:pic>
      <p:pic>
        <p:nvPicPr>
          <p:cNvPr id="12" name="그림 11" descr="텍스트, 원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5FECBE-9CF1-3DF4-600A-F7C2AA592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3" r="32664" b="42378"/>
          <a:stretch>
            <a:fillRect/>
          </a:stretch>
        </p:blipFill>
        <p:spPr>
          <a:xfrm>
            <a:off x="9735024" y="1083498"/>
            <a:ext cx="1940767" cy="20453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275EFA-E453-0FB1-812C-FD4B00A36012}"/>
              </a:ext>
            </a:extLst>
          </p:cNvPr>
          <p:cNvSpPr txBox="1"/>
          <p:nvPr/>
        </p:nvSpPr>
        <p:spPr>
          <a:xfrm>
            <a:off x="11754732" y="3646710"/>
            <a:ext cx="3724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G’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ED08B-3F92-64ED-5242-BEA5046B43D5}"/>
              </a:ext>
            </a:extLst>
          </p:cNvPr>
          <p:cNvSpPr txBox="1"/>
          <p:nvPr/>
        </p:nvSpPr>
        <p:spPr>
          <a:xfrm>
            <a:off x="11754732" y="1309400"/>
            <a:ext cx="3724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834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D123-0934-C1B4-C3A5-1BE9A302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B551DF-B2C6-5EAB-486A-6E93DB107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0922-3EEB-A8EC-B0F7-A6ABA3020529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pic>
        <p:nvPicPr>
          <p:cNvPr id="5" name="그림 4" descr="원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98CA40-8C75-2D5C-D953-1DF73EDFF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65" y="3429000"/>
            <a:ext cx="1940767" cy="2164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8BD28-73B9-9812-3D4D-2CB394935176}"/>
              </a:ext>
            </a:extLst>
          </p:cNvPr>
          <p:cNvSpPr txBox="1"/>
          <p:nvPr/>
        </p:nvSpPr>
        <p:spPr>
          <a:xfrm>
            <a:off x="890945" y="804379"/>
            <a:ext cx="278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Deconfounded Training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702D84-BF3D-634F-34DE-FA82DAB5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94" y="1678732"/>
            <a:ext cx="8588484" cy="3856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59383E-6F0E-6A53-D29F-D772855EC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848" y="2421296"/>
            <a:ext cx="4773730" cy="588312"/>
          </a:xfrm>
          <a:prstGeom prst="rect">
            <a:avLst/>
          </a:prstGeom>
        </p:spPr>
      </p:pic>
      <p:pic>
        <p:nvPicPr>
          <p:cNvPr id="12" name="그림 11" descr="텍스트, 원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BB7863-B723-AE4A-D853-94C70BC8D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3" r="32664" b="42378"/>
          <a:stretch>
            <a:fillRect/>
          </a:stretch>
        </p:blipFill>
        <p:spPr>
          <a:xfrm>
            <a:off x="9735024" y="1083498"/>
            <a:ext cx="1940767" cy="20453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8329FE-F6C7-2ECB-C0F7-6F8BC7BCFFC4}"/>
              </a:ext>
            </a:extLst>
          </p:cNvPr>
          <p:cNvSpPr txBox="1"/>
          <p:nvPr/>
        </p:nvSpPr>
        <p:spPr>
          <a:xfrm>
            <a:off x="11754732" y="3646710"/>
            <a:ext cx="3724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G’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F7A174-0DAC-5C51-F361-06AA74549502}"/>
              </a:ext>
            </a:extLst>
          </p:cNvPr>
          <p:cNvSpPr txBox="1"/>
          <p:nvPr/>
        </p:nvSpPr>
        <p:spPr>
          <a:xfrm>
            <a:off x="11754732" y="1309400"/>
            <a:ext cx="3724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G</a:t>
            </a:r>
            <a:endParaRPr lang="ko-KR" altLang="en-US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E0CAA5-9F34-D699-9DD0-4346D64E033C}"/>
              </a:ext>
            </a:extLst>
          </p:cNvPr>
          <p:cNvSpPr/>
          <p:nvPr/>
        </p:nvSpPr>
        <p:spPr>
          <a:xfrm>
            <a:off x="6167535" y="4971676"/>
            <a:ext cx="1026366" cy="40275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32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34D1-020D-55F1-E0B5-B7EF27F0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73119-C19D-F17B-9293-E45F45D82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77680-E043-FC8D-B6AC-E968F170298A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603A8-015F-ADD1-C289-785C4D7D44BD}"/>
              </a:ext>
            </a:extLst>
          </p:cNvPr>
          <p:cNvSpPr txBox="1"/>
          <p:nvPr/>
        </p:nvSpPr>
        <p:spPr>
          <a:xfrm>
            <a:off x="890945" y="804379"/>
            <a:ext cx="278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Deconfounded Training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1E4F0C-519C-E18C-1255-6E79E615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66307"/>
            <a:ext cx="10978246" cy="365356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2DC4317-C0F0-6B2A-D068-B849874C0A52}"/>
              </a:ext>
            </a:extLst>
          </p:cNvPr>
          <p:cNvSpPr/>
          <p:nvPr/>
        </p:nvSpPr>
        <p:spPr>
          <a:xfrm>
            <a:off x="1894114" y="1326842"/>
            <a:ext cx="2901821" cy="40275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42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1EAF-E019-5927-60B2-F2A2B500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62966C-4DDF-C5F6-A0B1-845104789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12116-5992-1C33-CBCD-2C2ECEE98825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237D4-034D-A444-9C1B-ACF877B389C1}"/>
              </a:ext>
            </a:extLst>
          </p:cNvPr>
          <p:cNvSpPr txBox="1"/>
          <p:nvPr/>
        </p:nvSpPr>
        <p:spPr>
          <a:xfrm>
            <a:off x="890945" y="804379"/>
            <a:ext cx="278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Deconfounded Training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9BA24E-234D-051E-C822-12494A16E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485582"/>
            <a:ext cx="8169079" cy="44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53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1FC3-6E88-F4F8-74ED-967B7EFE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7AA8DA-2D9E-8EA4-F425-2249041E9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058F-5285-C740-8798-01438845D91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825AD-6157-727A-B176-B9B5CB943B03}"/>
              </a:ext>
            </a:extLst>
          </p:cNvPr>
          <p:cNvSpPr txBox="1"/>
          <p:nvPr/>
        </p:nvSpPr>
        <p:spPr>
          <a:xfrm>
            <a:off x="890945" y="804379"/>
            <a:ext cx="278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Deconfounded Training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CEBE71-AB8F-E421-7521-958C2EDAE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500973"/>
            <a:ext cx="9652647" cy="45140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8735F68-65E6-D445-105B-BCBE113F4834}"/>
              </a:ext>
            </a:extLst>
          </p:cNvPr>
          <p:cNvSpPr/>
          <p:nvPr/>
        </p:nvSpPr>
        <p:spPr>
          <a:xfrm>
            <a:off x="2281716" y="1500972"/>
            <a:ext cx="3997786" cy="56192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12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4C05-D16E-94FB-0B84-6F25A3DB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98B9F4-9CAF-BE6F-7158-3CD50D3CC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EBD1C-7060-7E3B-65D5-E82337D7A43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62431-A2D5-B56E-BBA0-0060F017FE87}"/>
              </a:ext>
            </a:extLst>
          </p:cNvPr>
          <p:cNvSpPr txBox="1"/>
          <p:nvPr/>
        </p:nvSpPr>
        <p:spPr>
          <a:xfrm>
            <a:off x="890945" y="804379"/>
            <a:ext cx="44368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Adjusting Popularity Bias in Inference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DD14D2-3BC4-72F6-96BC-7B0151ED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42981"/>
            <a:ext cx="8141088" cy="551845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E8748AE-730A-32EA-5132-FB9D870CFDB1}"/>
              </a:ext>
            </a:extLst>
          </p:cNvPr>
          <p:cNvSpPr/>
          <p:nvPr/>
        </p:nvSpPr>
        <p:spPr>
          <a:xfrm>
            <a:off x="3498979" y="3148035"/>
            <a:ext cx="3442997" cy="280965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0AD2D9-BF06-9DF3-7F65-C7559464BD09}"/>
              </a:ext>
            </a:extLst>
          </p:cNvPr>
          <p:cNvSpPr/>
          <p:nvPr/>
        </p:nvSpPr>
        <p:spPr>
          <a:xfrm>
            <a:off x="4537788" y="4019716"/>
            <a:ext cx="2544148" cy="47763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21A5215-38AE-A2C7-69FE-7D60CE400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738" y="4649769"/>
            <a:ext cx="4229467" cy="46486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10DADE-8086-F441-8E3E-815BFC0A265F}"/>
              </a:ext>
            </a:extLst>
          </p:cNvPr>
          <p:cNvSpPr/>
          <p:nvPr/>
        </p:nvSpPr>
        <p:spPr>
          <a:xfrm>
            <a:off x="4388497" y="5440576"/>
            <a:ext cx="3365241" cy="37239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14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8F41-2321-0E9B-2196-96A52572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BFC615-D8EA-9B77-6CFA-CF6B8FD2B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31D9D-0B69-7C8C-B5D9-BE3C23D08D1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EEF5F-43C2-6309-5EA0-46AEF9D8E0DC}"/>
              </a:ext>
            </a:extLst>
          </p:cNvPr>
          <p:cNvSpPr txBox="1"/>
          <p:nvPr/>
        </p:nvSpPr>
        <p:spPr>
          <a:xfrm>
            <a:off x="890945" y="804379"/>
            <a:ext cx="44368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Adjusting Popularity Bias in Inference</a:t>
            </a:r>
            <a:endParaRPr lang="ko-KR" altLang="en-US" b="1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C83201-6316-2831-960C-1A6F1BFAE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232" y="1173711"/>
            <a:ext cx="5600390" cy="2959750"/>
          </a:xfrm>
          <a:prstGeom prst="rect">
            <a:avLst/>
          </a:prstGeom>
        </p:spPr>
      </p:pic>
      <p:pic>
        <p:nvPicPr>
          <p:cNvPr id="8" name="그림 7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8F4C7-954B-4BA4-6715-392345DCE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6" y="1494594"/>
            <a:ext cx="5439906" cy="33666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3CA7D7-D9CD-879E-D42E-36A1356C6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46" y="5128279"/>
            <a:ext cx="11262571" cy="7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004A-53F7-3F4F-C100-4142B27A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68F4C7-E768-D916-E90D-9FB976D48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502C5-5F8B-F98C-3BDF-5DFF6143DC0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9E647F-CC75-B5D9-62FE-1EAD6E2D3025}"/>
                  </a:ext>
                </a:extLst>
              </p:cNvPr>
              <p:cNvSpPr txBox="1"/>
              <p:nvPr/>
            </p:nvSpPr>
            <p:spPr>
              <a:xfrm>
                <a:off x="890945" y="776387"/>
                <a:ext cx="4352859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b="1" dirty="0"/>
                  <a:t>Comparison with Correlation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</m:oMath>
                </a14:m>
                <a:endParaRPr lang="ko-KR" alt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9E647F-CC75-B5D9-62FE-1EAD6E2D3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45" y="776387"/>
                <a:ext cx="4352859" cy="369332"/>
              </a:xfrm>
              <a:prstGeom prst="rect">
                <a:avLst/>
              </a:prstGeom>
              <a:blipFill>
                <a:blip r:embed="rId2"/>
                <a:stretch>
                  <a:fillRect l="-978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5DE1B2E-E9BD-F79C-813B-90672BB87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45" y="1310324"/>
            <a:ext cx="10688345" cy="47523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1933FC-8E61-0125-C0F5-4FBC2F17C617}"/>
              </a:ext>
            </a:extLst>
          </p:cNvPr>
          <p:cNvSpPr/>
          <p:nvPr/>
        </p:nvSpPr>
        <p:spPr>
          <a:xfrm>
            <a:off x="9657184" y="4180114"/>
            <a:ext cx="699796" cy="3651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84A76A-8608-162B-D15B-E13762DA81A5}"/>
              </a:ext>
            </a:extLst>
          </p:cNvPr>
          <p:cNvSpPr/>
          <p:nvPr/>
        </p:nvSpPr>
        <p:spPr>
          <a:xfrm>
            <a:off x="1567542" y="4973216"/>
            <a:ext cx="2640563" cy="3651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0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D905-B535-0A2C-1B99-C38F98E1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C7F568-88EE-92C4-E0F6-C22AE1C7C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9FBED-2807-3620-1A65-A5C55A0B1059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53C035-A9C5-A3AA-0C7E-9AF22B95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845877"/>
            <a:ext cx="9644113" cy="48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72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2800-0197-C880-8988-08A44DDB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15F439-E354-9EFF-5D9C-1C2A64DE5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1668A-5859-FB9F-F240-6719C530044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90F03-E5AB-3639-7BDC-09F2C8B23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42" y="1212999"/>
            <a:ext cx="10804716" cy="4868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86CEE-088B-62C2-B9BA-0408250D75A6}"/>
              </a:ext>
            </a:extLst>
          </p:cNvPr>
          <p:cNvSpPr txBox="1"/>
          <p:nvPr/>
        </p:nvSpPr>
        <p:spPr>
          <a:xfrm>
            <a:off x="890945" y="776387"/>
            <a:ext cx="18895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Baselines vs PD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625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5216-E3CD-750B-BEB7-50DC280E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CDFA9A-AD37-88AA-889E-623FE9C1B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1A27C-2EA6-8CD7-3D0A-22F3F2BC913E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52D4C-60C5-15D6-417E-D0C877437B62}"/>
              </a:ext>
            </a:extLst>
          </p:cNvPr>
          <p:cNvSpPr txBox="1"/>
          <p:nvPr/>
        </p:nvSpPr>
        <p:spPr>
          <a:xfrm>
            <a:off x="890945" y="776387"/>
            <a:ext cx="40356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Deconfounding Performance (RQ1)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34660C-5CDA-0DA1-9ACA-9E4F2F16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6" y="1310324"/>
            <a:ext cx="5921253" cy="2720576"/>
          </a:xfrm>
          <a:prstGeom prst="rect">
            <a:avLst/>
          </a:prstGeom>
        </p:spPr>
      </p:pic>
      <p:pic>
        <p:nvPicPr>
          <p:cNvPr id="9" name="그림 8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320041-B985-D624-3A05-BA25F81BA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883" y="681761"/>
            <a:ext cx="5502117" cy="50829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7722AF-E163-86E3-1FA3-FE3D82FBD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26" y="4311125"/>
            <a:ext cx="6294665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37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4DE8-22D7-FB32-E191-6BCB35CE1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7CE3D4-9B50-04E9-7F65-F2DF4ED81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B1BB8-C7E7-C5F9-544E-28168894D6D2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E91B9-7FF3-12D9-B2EA-68EB7B538586}"/>
              </a:ext>
            </a:extLst>
          </p:cNvPr>
          <p:cNvSpPr txBox="1"/>
          <p:nvPr/>
        </p:nvSpPr>
        <p:spPr>
          <a:xfrm>
            <a:off x="890945" y="776387"/>
            <a:ext cx="40356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Deconfounding Performance (RQ1)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FF22F7-DDF7-E3B6-A66A-F6A20CF6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32807"/>
            <a:ext cx="7385308" cy="45843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7F1CFEE-DBCE-EFBD-4370-135E86DB8577}"/>
              </a:ext>
            </a:extLst>
          </p:cNvPr>
          <p:cNvSpPr/>
          <p:nvPr/>
        </p:nvSpPr>
        <p:spPr>
          <a:xfrm>
            <a:off x="3592286" y="1332807"/>
            <a:ext cx="1875453" cy="36933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7A53D2-F8AA-51FD-9FF0-EC60370376C3}"/>
              </a:ext>
            </a:extLst>
          </p:cNvPr>
          <p:cNvSpPr/>
          <p:nvPr/>
        </p:nvSpPr>
        <p:spPr>
          <a:xfrm>
            <a:off x="1219913" y="1332807"/>
            <a:ext cx="1905842" cy="36933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3066B6-99CC-2B8E-782D-94090BDAE7FC}"/>
              </a:ext>
            </a:extLst>
          </p:cNvPr>
          <p:cNvSpPr/>
          <p:nvPr/>
        </p:nvSpPr>
        <p:spPr>
          <a:xfrm>
            <a:off x="1576874" y="5547794"/>
            <a:ext cx="2855167" cy="369332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67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7216-A824-BF16-C6EE-D402144B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B88FF5-7225-EFE0-C9E7-90F2F10CE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F3367-F214-014D-7BE3-B79D99F84849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B6677-6CAF-B9D1-48D7-325ED781CA74}"/>
              </a:ext>
            </a:extLst>
          </p:cNvPr>
          <p:cNvSpPr txBox="1"/>
          <p:nvPr/>
        </p:nvSpPr>
        <p:spPr>
          <a:xfrm>
            <a:off x="890945" y="776387"/>
            <a:ext cx="48287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Performance of Adjusting Popularity (RQ2)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F0421F-3A61-B8F6-8417-701543D1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447911"/>
            <a:ext cx="11028789" cy="40851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27595A-4087-17B8-30D9-3B9401D2EE6D}"/>
              </a:ext>
            </a:extLst>
          </p:cNvPr>
          <p:cNvSpPr txBox="1"/>
          <p:nvPr/>
        </p:nvSpPr>
        <p:spPr>
          <a:xfrm>
            <a:off x="8406881" y="1502706"/>
            <a:ext cx="3013787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desired</a:t>
            </a:r>
            <a:r>
              <a:rPr lang="ko-KR" altLang="en-US" dirty="0"/>
              <a:t> </a:t>
            </a:r>
            <a:r>
              <a:rPr lang="en-US" altLang="ko-KR" dirty="0"/>
              <a:t>[target] popularity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3AFF9-DE07-974E-946C-5D10FB820BDF}"/>
              </a:ext>
            </a:extLst>
          </p:cNvPr>
          <p:cNvSpPr/>
          <p:nvPr/>
        </p:nvSpPr>
        <p:spPr>
          <a:xfrm>
            <a:off x="1595535" y="1457719"/>
            <a:ext cx="419877" cy="818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06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9407-433D-DC2B-5D14-DAC64A24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9B7C80-EEC1-43AE-F36E-F6161C907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A355B-2474-FCB3-2F9B-1EC7B46114A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78E85-DE96-D4AB-3A55-2ACAC7BDC5D1}"/>
              </a:ext>
            </a:extLst>
          </p:cNvPr>
          <p:cNvSpPr txBox="1"/>
          <p:nvPr/>
        </p:nvSpPr>
        <p:spPr>
          <a:xfrm>
            <a:off x="890945" y="776387"/>
            <a:ext cx="48287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Performance of Adjusting Popularity (RQ2)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8DD398-2B48-75A1-80D2-B2EFBD046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10324"/>
            <a:ext cx="9932565" cy="54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19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8B4D-DEBC-6327-FEE6-04007F27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6F7837-4181-E160-146D-8682856E1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24D3A-B2D3-4760-B334-51110324CFD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Experiments</a:t>
            </a:r>
            <a:endParaRPr lang="ko-KR" alt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6E01B-3F08-CE65-3B67-3072DAB2A235}"/>
              </a:ext>
            </a:extLst>
          </p:cNvPr>
          <p:cNvSpPr txBox="1"/>
          <p:nvPr/>
        </p:nvSpPr>
        <p:spPr>
          <a:xfrm>
            <a:off x="890945" y="776387"/>
            <a:ext cx="48287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Performance of Adjusting Popularity (RQ2)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0E48A1-47D9-F4F1-E82C-5810DF985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455475"/>
            <a:ext cx="6790300" cy="300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44956"/>
      </p:ext>
    </p:extLst>
  </p:cSld>
  <p:clrMapOvr>
    <a:masterClrMapping/>
  </p:clrMapOvr>
</p:sld>
</file>

<file path=ppt/theme/theme1.xml><?xml version="1.0" encoding="utf-8"?>
<a:theme xmlns:a="http://schemas.openxmlformats.org/drawingml/2006/main" name="DGIST Data Science Lab">
  <a:themeElements>
    <a:clrScheme name="템플릿 색상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B60"/>
      </a:accent1>
      <a:accent2>
        <a:srgbClr val="F8F7F2"/>
      </a:accent2>
      <a:accent3>
        <a:srgbClr val="B2DAFA"/>
      </a:accent3>
      <a:accent4>
        <a:srgbClr val="FDFDE9"/>
      </a:accent4>
      <a:accent5>
        <a:srgbClr val="5B9BD5"/>
      </a:accent5>
      <a:accent6>
        <a:srgbClr val="AABACC"/>
      </a:accent6>
      <a:hlink>
        <a:srgbClr val="6F7985"/>
      </a:hlink>
      <a:folHlink>
        <a:srgbClr val="954F72"/>
      </a:folHlink>
    </a:clrScheme>
    <a:fontScheme name="사용자 지정 1">
      <a:majorFont>
        <a:latin typeface="나눔스퀘어 네오 Heavy"/>
        <a:ea typeface="나눔스퀘어 네오 ExtraBold"/>
        <a:cs typeface=""/>
      </a:majorFont>
      <a:minorFont>
        <a:latin typeface="나눔스퀘어 네오 Regular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179</Words>
  <Application>Microsoft Office PowerPoint</Application>
  <PresentationFormat>와이드스크린</PresentationFormat>
  <Paragraphs>84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Arial Unicode MS</vt:lpstr>
      <vt:lpstr>나눔스퀘어 네오 Heavy</vt:lpstr>
      <vt:lpstr>나눔스퀘어 네오 Regular</vt:lpstr>
      <vt:lpstr>맑은 고딕</vt:lpstr>
      <vt:lpstr>Arial</vt:lpstr>
      <vt:lpstr>Calibri</vt:lpstr>
      <vt:lpstr>Cambria Math</vt:lpstr>
      <vt:lpstr>Wingdings</vt:lpstr>
      <vt:lpstr>DGIST Data Science Lab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최수로</dc:creator>
  <cp:lastModifiedBy>서정호</cp:lastModifiedBy>
  <cp:revision>81</cp:revision>
  <dcterms:created xsi:type="dcterms:W3CDTF">2024-07-02T23:39:06Z</dcterms:created>
  <dcterms:modified xsi:type="dcterms:W3CDTF">2025-07-24T01:19:10Z</dcterms:modified>
</cp:coreProperties>
</file>