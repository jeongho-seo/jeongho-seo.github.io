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8" r:id="rId2"/>
    <p:sldId id="419" r:id="rId3"/>
    <p:sldId id="420" r:id="rId4"/>
    <p:sldId id="427" r:id="rId5"/>
    <p:sldId id="429" r:id="rId6"/>
    <p:sldId id="430" r:id="rId7"/>
    <p:sldId id="431" r:id="rId8"/>
    <p:sldId id="42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2" r:id="rId17"/>
    <p:sldId id="443" r:id="rId18"/>
    <p:sldId id="444" r:id="rId19"/>
    <p:sldId id="445" r:id="rId20"/>
    <p:sldId id="446" r:id="rId21"/>
    <p:sldId id="447" r:id="rId22"/>
    <p:sldId id="441" r:id="rId23"/>
    <p:sldId id="449" r:id="rId24"/>
    <p:sldId id="450" r:id="rId25"/>
    <p:sldId id="448" r:id="rId26"/>
    <p:sldId id="45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60B4D8F-3CA7-4C19-87DC-03324C33B426}">
          <p14:sldIdLst>
            <p14:sldId id="258"/>
            <p14:sldId id="419"/>
          </p14:sldIdLst>
        </p14:section>
        <p14:section name="Proposal" id="{4253E8E0-7C59-43D6-B014-93B779B1E09F}">
          <p14:sldIdLst>
            <p14:sldId id="420"/>
            <p14:sldId id="427"/>
            <p14:sldId id="429"/>
            <p14:sldId id="430"/>
            <p14:sldId id="431"/>
          </p14:sldIdLst>
        </p14:section>
        <p14:section name="Influential Recommender System" id="{1EBA94CA-3535-4327-9A38-F60FC559EBE7}">
          <p14:sldIdLst>
            <p14:sldId id="423"/>
            <p14:sldId id="434"/>
            <p14:sldId id="435"/>
            <p14:sldId id="436"/>
            <p14:sldId id="437"/>
            <p14:sldId id="438"/>
            <p14:sldId id="439"/>
            <p14:sldId id="440"/>
            <p14:sldId id="442"/>
            <p14:sldId id="443"/>
            <p14:sldId id="444"/>
            <p14:sldId id="445"/>
            <p14:sldId id="446"/>
            <p14:sldId id="447"/>
          </p14:sldIdLst>
        </p14:section>
        <p14:section name="Evaluation Metrics" id="{3DDB7637-E8EF-4C86-85BF-1931D65A9545}">
          <p14:sldIdLst>
            <p14:sldId id="441"/>
            <p14:sldId id="449"/>
            <p14:sldId id="450"/>
            <p14:sldId id="448"/>
          </p14:sldIdLst>
        </p14:section>
        <p14:section name="Results" id="{74ECE321-3F12-4037-9F46-C598B72FBBC2}">
          <p14:sldIdLst>
            <p14:sldId id="45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1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AC801-AD1E-4E86-A700-2C343F9158A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AD7CE-5464-4C83-A6CE-290DE65F1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31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42F2ABC9-ECD3-D6CF-B15A-4CFDA403D3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B3ABC582-8FE1-663C-50ED-6C6521AE6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29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0F81EE0-ED20-8BE9-EBB4-B3C83279394D}"/>
              </a:ext>
            </a:extLst>
          </p:cNvPr>
          <p:cNvSpPr/>
          <p:nvPr userDrawn="1"/>
        </p:nvSpPr>
        <p:spPr>
          <a:xfrm>
            <a:off x="0" y="0"/>
            <a:ext cx="38862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A4932-DDEB-F643-EFBF-C4B1F73A7AC6}"/>
              </a:ext>
            </a:extLst>
          </p:cNvPr>
          <p:cNvSpPr txBox="1"/>
          <p:nvPr userDrawn="1"/>
        </p:nvSpPr>
        <p:spPr>
          <a:xfrm rot="10800000">
            <a:off x="-38757" y="0"/>
            <a:ext cx="461665" cy="66065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altLang="ko-KR" dirty="0">
                <a:solidFill>
                  <a:schemeClr val="accent4"/>
                </a:solidFill>
              </a:rPr>
              <a:t>DGIST DATA SCIENCE LAB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34053-AB8F-3D78-5D1B-185AF666F2F5}"/>
              </a:ext>
            </a:extLst>
          </p:cNvPr>
          <p:cNvSpPr txBox="1"/>
          <p:nvPr userDrawn="1"/>
        </p:nvSpPr>
        <p:spPr>
          <a:xfrm>
            <a:off x="788670" y="230356"/>
            <a:ext cx="47205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0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ko-KR" altLang="en-US" sz="4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C444DE1-6479-1956-D697-CD4B06D9395D}"/>
              </a:ext>
            </a:extLst>
          </p:cNvPr>
          <p:cNvCxnSpPr>
            <a:cxnSpLocks/>
          </p:cNvCxnSpPr>
          <p:nvPr userDrawn="1"/>
        </p:nvCxnSpPr>
        <p:spPr>
          <a:xfrm>
            <a:off x="788670" y="1103560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4F77F9D5-58F2-5762-5303-50C1BC92B1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7B646D40-A4B2-8411-E62B-4BA4E8049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33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26682B-44CA-303F-AEA3-5A29C5692700}"/>
              </a:ext>
            </a:extLst>
          </p:cNvPr>
          <p:cNvCxnSpPr>
            <a:cxnSpLocks/>
          </p:cNvCxnSpPr>
          <p:nvPr userDrawn="1"/>
        </p:nvCxnSpPr>
        <p:spPr>
          <a:xfrm>
            <a:off x="788670" y="1103560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D751CD70-14D9-A5E5-C141-381AB71232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CC8C17B6-8F84-E5A2-A544-8CC9D13A7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8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26682B-44CA-303F-AEA3-5A29C5692700}"/>
              </a:ext>
            </a:extLst>
          </p:cNvPr>
          <p:cNvCxnSpPr>
            <a:cxnSpLocks/>
          </p:cNvCxnSpPr>
          <p:nvPr userDrawn="1"/>
        </p:nvCxnSpPr>
        <p:spPr>
          <a:xfrm>
            <a:off x="788670" y="614033"/>
            <a:ext cx="10927080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텍스트이(가) 표시된 사진&#10;&#10;자동 생성된 설명">
            <a:extLst>
              <a:ext uri="{FF2B5EF4-FFF2-40B4-BE49-F238E27FC236}">
                <a16:creationId xmlns:a16="http://schemas.microsoft.com/office/drawing/2014/main" id="{14619B28-0CAC-4F9C-34AF-6687E9251D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92" y="6128419"/>
            <a:ext cx="2775666" cy="457223"/>
          </a:xfrm>
          <a:prstGeom prst="rect">
            <a:avLst/>
          </a:prstGeom>
        </p:spPr>
      </p:pic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6E60C301-CADF-772B-65D8-411358FCE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09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강조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6BED5A5-A093-F651-8D82-03ECA441EA3E}"/>
              </a:ext>
            </a:extLst>
          </p:cNvPr>
          <p:cNvSpPr txBox="1"/>
          <p:nvPr userDrawn="1"/>
        </p:nvSpPr>
        <p:spPr>
          <a:xfrm>
            <a:off x="3038475" y="1346954"/>
            <a:ext cx="6115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4"/>
                </a:solidFill>
              </a:rPr>
              <a:t>AGENDA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138BAE-13AC-BA75-4581-7C6EF932BB1F}"/>
              </a:ext>
            </a:extLst>
          </p:cNvPr>
          <p:cNvCxnSpPr>
            <a:cxnSpLocks/>
          </p:cNvCxnSpPr>
          <p:nvPr userDrawn="1"/>
        </p:nvCxnSpPr>
        <p:spPr>
          <a:xfrm>
            <a:off x="2364105" y="2613695"/>
            <a:ext cx="7463790" cy="7728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537E5A58-7311-2399-D80F-83C1BB0CC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682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E9D58C4-A221-0470-4225-5C241DA4EF16}"/>
              </a:ext>
            </a:extLst>
          </p:cNvPr>
          <p:cNvSpPr/>
          <p:nvPr userDrawn="1"/>
        </p:nvSpPr>
        <p:spPr>
          <a:xfrm>
            <a:off x="0" y="0"/>
            <a:ext cx="38862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F3179-991F-370F-47D8-30E51163ED61}"/>
              </a:ext>
            </a:extLst>
          </p:cNvPr>
          <p:cNvSpPr txBox="1"/>
          <p:nvPr userDrawn="1"/>
        </p:nvSpPr>
        <p:spPr>
          <a:xfrm rot="10800000">
            <a:off x="-38757" y="0"/>
            <a:ext cx="461665" cy="66065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en-US" altLang="ko-KR" dirty="0">
                <a:solidFill>
                  <a:schemeClr val="accent4"/>
                </a:solidFill>
              </a:rPr>
              <a:t>DGIST DATA SCIENCE LAB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65628F9-EEB3-747C-CE0A-FD86F331D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3808" y="6423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53A9-3D91-4627-B377-02682E3E59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94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6" r:id="rId4"/>
    <p:sldLayoutId id="214748366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00874E-66EF-C5BC-F826-826B85386E4B}"/>
              </a:ext>
            </a:extLst>
          </p:cNvPr>
          <p:cNvSpPr txBox="1"/>
          <p:nvPr/>
        </p:nvSpPr>
        <p:spPr>
          <a:xfrm>
            <a:off x="102773" y="649508"/>
            <a:ext cx="11983033" cy="8967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ko-KR" sz="4000" b="1" dirty="0">
                <a:solidFill>
                  <a:srgbClr val="E7E6E6">
                    <a:lumMod val="2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Heavy"/>
              </a:rPr>
              <a:t>Influential Recommender System</a:t>
            </a:r>
            <a:endParaRPr kumimoji="0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스퀘어 네오 Heavy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A9D438A-A2CA-8A10-C0BC-54B7F6E45163}"/>
              </a:ext>
            </a:extLst>
          </p:cNvPr>
          <p:cNvCxnSpPr>
            <a:cxnSpLocks/>
          </p:cNvCxnSpPr>
          <p:nvPr/>
        </p:nvCxnSpPr>
        <p:spPr>
          <a:xfrm>
            <a:off x="1551754" y="3429002"/>
            <a:ext cx="9552394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1D303D-FF71-3007-E78D-85A36942D882}"/>
              </a:ext>
            </a:extLst>
          </p:cNvPr>
          <p:cNvSpPr txBox="1"/>
          <p:nvPr/>
        </p:nvSpPr>
        <p:spPr>
          <a:xfrm>
            <a:off x="4897182" y="3770231"/>
            <a:ext cx="239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/>
                <a:cs typeface="+mn-cs"/>
              </a:rPr>
              <a:t>2025.07.22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B90E42-977C-379D-722C-311BAEF2A965}"/>
              </a:ext>
            </a:extLst>
          </p:cNvPr>
          <p:cNvSpPr txBox="1"/>
          <p:nvPr/>
        </p:nvSpPr>
        <p:spPr>
          <a:xfrm>
            <a:off x="4999039" y="4576951"/>
            <a:ext cx="2190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/>
                <a:cs typeface="+mn-cs"/>
              </a:rPr>
              <a:t>서정호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B1A9F7-36EA-D2BB-6133-C909C9E411C5}"/>
              </a:ext>
            </a:extLst>
          </p:cNvPr>
          <p:cNvSpPr txBox="1"/>
          <p:nvPr/>
        </p:nvSpPr>
        <p:spPr>
          <a:xfrm>
            <a:off x="1733683" y="2532282"/>
            <a:ext cx="8721212" cy="87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altLang="ko-KR" dirty="0"/>
              <a:t>Authors: Haoren Zhu, Hao Ge, Xiaodong Gu, Pengfei Zhao, Dik Lun Lee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Main </a:t>
            </a:r>
            <a:r>
              <a:rPr lang="ko-KR" altLang="ko-KR" dirty="0" err="1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Affiliation</a:t>
            </a:r>
            <a:r>
              <a:rPr lang="fr-FR" altLang="ko-KR" dirty="0">
                <a:solidFill>
                  <a:srgbClr val="1F1F1F"/>
                </a:solidFill>
                <a:latin typeface="Arial Unicode MS"/>
                <a:ea typeface="inherit"/>
                <a:cs typeface="Arial" panose="020B0604020202020204" pitchFamily="34" charset="0"/>
              </a:rPr>
              <a:t>: </a:t>
            </a:r>
            <a:r>
              <a:rPr lang="en-US" altLang="ko-KR" dirty="0"/>
              <a:t>Hong Kong University of Science and Technology</a:t>
            </a:r>
            <a:endParaRPr lang="fr-FR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65250-D1FF-F396-0E1B-B33E703D9C79}"/>
              </a:ext>
            </a:extLst>
          </p:cNvPr>
          <p:cNvSpPr txBox="1"/>
          <p:nvPr/>
        </p:nvSpPr>
        <p:spPr>
          <a:xfrm>
            <a:off x="1733683" y="187843"/>
            <a:ext cx="8721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ICDE</a:t>
            </a:r>
            <a:r>
              <a:rPr lang="fr-FR" altLang="ko-KR" sz="2400" dirty="0"/>
              <a:t> 2023</a:t>
            </a:r>
          </a:p>
        </p:txBody>
      </p:sp>
    </p:spTree>
    <p:extLst>
      <p:ext uri="{BB962C8B-B14F-4D97-AF65-F5344CB8AC3E}">
        <p14:creationId xmlns:p14="http://schemas.microsoft.com/office/powerpoint/2010/main" val="184678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2294FE-01E3-DDBE-2A8D-7F3AC97EA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819D6-648F-7667-71CF-3133FE3E8082}"/>
              </a:ext>
            </a:extLst>
          </p:cNvPr>
          <p:cNvSpPr txBox="1"/>
          <p:nvPr/>
        </p:nvSpPr>
        <p:spPr>
          <a:xfrm>
            <a:off x="822121" y="1277385"/>
            <a:ext cx="11020475" cy="2456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ko-KR" sz="2000" b="1" dirty="0">
                <a:latin typeface="나눔스퀘어 네오 Regular"/>
              </a:rPr>
              <a:t>Proposal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네오 Regular"/>
                <a:cs typeface="+mn-cs"/>
              </a:rPr>
              <a:t>Influential Recommender System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000" b="1" dirty="0">
                <a:latin typeface="나눔스퀘어 네오 Regular"/>
              </a:rPr>
              <a:t>Evaluation Metrics</a:t>
            </a:r>
          </a:p>
          <a:p>
            <a:pPr marL="514350" lvl="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en-US" altLang="ko-KR" sz="2000" b="1" dirty="0">
                <a:latin typeface="나눔스퀘어 네오 Regular"/>
              </a:rPr>
              <a:t>Results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833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71CBA52-BFDE-986C-14F8-D56FCFF06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9F2A0-5115-1219-079F-F8CB536EB40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EBBC7C-1277-6973-559F-39D0EE73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076785"/>
            <a:ext cx="8403758" cy="360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6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53E1-4B8A-D4C0-D39C-4FD7403F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C493BC-9255-79AD-E73E-CF4BFD2C9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DD3C35-2319-2F64-23EE-00E67B837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13" y="1536906"/>
            <a:ext cx="6576752" cy="21953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F46D20-DBF4-3423-AE63-2E1D21419FC9}"/>
              </a:ext>
            </a:extLst>
          </p:cNvPr>
          <p:cNvSpPr txBox="1"/>
          <p:nvPr/>
        </p:nvSpPr>
        <p:spPr>
          <a:xfrm>
            <a:off x="990513" y="889678"/>
            <a:ext cx="61162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ko-KR" sz="2000" b="1" dirty="0"/>
              <a:t>Influential Recommender System (IRS)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C4565-9073-DC7B-E200-0224A087B7AA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</p:spTree>
    <p:extLst>
      <p:ext uri="{BB962C8B-B14F-4D97-AF65-F5344CB8AC3E}">
        <p14:creationId xmlns:p14="http://schemas.microsoft.com/office/powerpoint/2010/main" val="99993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DE15-109C-67BD-E969-CB72E9742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0D71FC-89E5-FF2D-154E-0C8950FD7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5" name="그림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F27DA6-84CF-B645-D26D-8E0655B52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55" y="1702210"/>
            <a:ext cx="5836527" cy="41894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438850-4C49-7263-B41D-D5F4A9A0D350}"/>
              </a:ext>
            </a:extLst>
          </p:cNvPr>
          <p:cNvSpPr txBox="1"/>
          <p:nvPr/>
        </p:nvSpPr>
        <p:spPr>
          <a:xfrm>
            <a:off x="779663" y="843648"/>
            <a:ext cx="36217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b="1" dirty="0"/>
              <a:t>Example with watching movies</a:t>
            </a:r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A3D3E85-6E40-8E06-3F17-DE331D5BF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182" y="1028314"/>
            <a:ext cx="5720087" cy="52894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A09726-3B27-B8D5-81DD-1B49B9A324B0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</p:spTree>
    <p:extLst>
      <p:ext uri="{BB962C8B-B14F-4D97-AF65-F5344CB8AC3E}">
        <p14:creationId xmlns:p14="http://schemas.microsoft.com/office/powerpoint/2010/main" val="305815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F510A-55FF-6EC5-70A3-17F9F50B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C3CE56-61F4-F5AB-3147-D914DCF7B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DE74BB-F25D-5337-13C5-488ADC910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868458"/>
            <a:ext cx="6271803" cy="51210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3DFEA9-F1F6-7E0A-FE5A-3BF58232FD21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</p:spTree>
    <p:extLst>
      <p:ext uri="{BB962C8B-B14F-4D97-AF65-F5344CB8AC3E}">
        <p14:creationId xmlns:p14="http://schemas.microsoft.com/office/powerpoint/2010/main" val="112139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3313-9650-F1E2-CD4A-E641CAC1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9D63F7-B190-17F9-E634-F163FAC02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7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8D2BE1-8488-58D3-9174-846FFF78B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607794"/>
            <a:ext cx="6718842" cy="38854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93603E-E506-99A1-3FF4-EA73480A473D}"/>
              </a:ext>
            </a:extLst>
          </p:cNvPr>
          <p:cNvSpPr txBox="1"/>
          <p:nvPr/>
        </p:nvSpPr>
        <p:spPr>
          <a:xfrm>
            <a:off x="890945" y="909733"/>
            <a:ext cx="76057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2000" b="1" dirty="0"/>
              <a:t>Idea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1D516-19DF-A47D-1C51-EFA8BF456FFE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US" altLang="ko-KR" sz="2800" b="1" dirty="0"/>
              <a:t>Proposal</a:t>
            </a:r>
          </a:p>
        </p:txBody>
      </p:sp>
    </p:spTree>
    <p:extLst>
      <p:ext uri="{BB962C8B-B14F-4D97-AF65-F5344CB8AC3E}">
        <p14:creationId xmlns:p14="http://schemas.microsoft.com/office/powerpoint/2010/main" val="62103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56903-4510-CF11-3EF3-EE3AA5AD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FE0530-A239-D1F1-E73D-DC4F57D6A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D60C7-630A-3985-628D-7B377DE59231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5757BD-11F8-E3CE-5E55-DD62D7E67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024248"/>
            <a:ext cx="6911608" cy="498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74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81489-9733-042B-BC03-68C26AE4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EC473E1-7FD0-3AB2-72F1-F6CCF8C67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08A958-D031-91EB-084E-3BB71EBE2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05" y="1019912"/>
            <a:ext cx="6210838" cy="450381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64ACE7-58F8-3D41-29B8-150D4493C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543" y="1019911"/>
            <a:ext cx="5452673" cy="4662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A06841-256E-2BF7-C13F-3B724E990109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830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88C70-928D-C849-3F17-AB6CDB0D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4B270D1-6C08-D939-459D-782E7AE77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F414E6-3638-E70E-A9EE-FDEC66667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149" y="706421"/>
            <a:ext cx="6452247" cy="60630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902541-4E19-65E6-4D20-3915275DF3A1}"/>
              </a:ext>
            </a:extLst>
          </p:cNvPr>
          <p:cNvSpPr txBox="1"/>
          <p:nvPr/>
        </p:nvSpPr>
        <p:spPr>
          <a:xfrm>
            <a:off x="990513" y="889678"/>
            <a:ext cx="3497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ko-KR" sz="2000" b="1" dirty="0"/>
              <a:t>Previous Trials 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1117FE-B789-5027-5829-C2293FECDC16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242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3A0-CB09-53BC-7C70-A4062869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17B823-39FE-5C68-4139-AAE9F0EEA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EB58A6-648B-BC8B-B4FB-64FEF74B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858" y="880373"/>
            <a:ext cx="6825471" cy="49326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2B85B-BBD1-1A52-0CD1-CB0CA4128901}"/>
              </a:ext>
            </a:extLst>
          </p:cNvPr>
          <p:cNvSpPr txBox="1"/>
          <p:nvPr/>
        </p:nvSpPr>
        <p:spPr>
          <a:xfrm>
            <a:off x="990513" y="889678"/>
            <a:ext cx="3497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ko-KR" sz="2000" b="1" dirty="0"/>
              <a:t>Previous Trials (1)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0945F-3AA0-F424-BA69-C36549EE4D20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585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BFA2-0CDB-B02D-F8E0-7C6116B6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AF8EF8-52E8-CF48-8F00-A7A16AE22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6ED257-7AF2-2904-8D25-382C0431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663" y="883106"/>
            <a:ext cx="6498900" cy="5005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62BE5E-6F8C-072F-194D-03647D5ACAA4}"/>
              </a:ext>
            </a:extLst>
          </p:cNvPr>
          <p:cNvSpPr txBox="1"/>
          <p:nvPr/>
        </p:nvSpPr>
        <p:spPr>
          <a:xfrm>
            <a:off x="990513" y="889678"/>
            <a:ext cx="3497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ko-KR" sz="2000" b="1" dirty="0"/>
              <a:t>Previous Trials (2)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B2C2E-C81E-59C5-31BE-6B263886296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418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06C4-FC29-0ECC-7919-3C51519E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F199A0-47D4-DAD4-A6B7-227BEAEFD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852A93-D1D0-D6D3-6425-796B53E6D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238765"/>
            <a:ext cx="6221535" cy="21902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8FEA9C-272D-EA2A-7DD2-3F96461985F5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837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6CB2-25C7-5BDF-1ADA-FACA01238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C498A1-E452-9ECE-366D-8CFDFB093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566C2E-6044-FFE9-5E76-3096C6A0B575}"/>
              </a:ext>
            </a:extLst>
          </p:cNvPr>
          <p:cNvSpPr txBox="1"/>
          <p:nvPr/>
        </p:nvSpPr>
        <p:spPr>
          <a:xfrm>
            <a:off x="890945" y="809045"/>
            <a:ext cx="46047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Influential Recommender Network (IRN)</a:t>
            </a:r>
            <a:endParaRPr lang="ko-KR" altLang="en-US" b="1" dirty="0"/>
          </a:p>
        </p:txBody>
      </p:sp>
      <p:pic>
        <p:nvPicPr>
          <p:cNvPr id="12" name="그림 11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82B9CB-0CE3-25C7-8573-B2F2C99AD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56" y="662670"/>
            <a:ext cx="5213244" cy="619533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C2E2A7-D00A-DFFF-2C15-15256D328D56}"/>
              </a:ext>
            </a:extLst>
          </p:cNvPr>
          <p:cNvSpPr/>
          <p:nvPr/>
        </p:nvSpPr>
        <p:spPr>
          <a:xfrm>
            <a:off x="10819924" y="3429000"/>
            <a:ext cx="1091496" cy="48052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D4F47-412D-6A6C-20A6-4FD1646A3069}"/>
              </a:ext>
            </a:extLst>
          </p:cNvPr>
          <p:cNvSpPr txBox="1"/>
          <p:nvPr/>
        </p:nvSpPr>
        <p:spPr>
          <a:xfrm>
            <a:off x="890945" y="1420225"/>
            <a:ext cx="34975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ko-KR" sz="2000" b="1" dirty="0"/>
              <a:t>From the idea,</a:t>
            </a:r>
          </a:p>
          <a:p>
            <a:pPr marL="342900" indent="-342900">
              <a:buFontTx/>
              <a:buChar char="-"/>
            </a:pPr>
            <a:r>
              <a:rPr lang="fr-FR" altLang="ko-KR" sz="2000" b="1" dirty="0"/>
              <a:t>Transformer structure</a:t>
            </a:r>
          </a:p>
          <a:p>
            <a:pPr marL="342900" indent="-342900">
              <a:buFontTx/>
              <a:buChar char="-"/>
            </a:pPr>
            <a:r>
              <a:rPr lang="fr-FR" altLang="ko-KR" sz="2000" b="1" dirty="0"/>
              <a:t>PIM for personalized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66C2593-D969-96B1-9A91-744663970FF3}"/>
              </a:ext>
            </a:extLst>
          </p:cNvPr>
          <p:cNvCxnSpPr/>
          <p:nvPr/>
        </p:nvCxnSpPr>
        <p:spPr>
          <a:xfrm>
            <a:off x="9235480" y="874359"/>
            <a:ext cx="69979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AE8086-D7C0-4CAF-A8A7-82AA08A93683}"/>
              </a:ext>
            </a:extLst>
          </p:cNvPr>
          <p:cNvSpPr txBox="1"/>
          <p:nvPr/>
        </p:nvSpPr>
        <p:spPr>
          <a:xfrm>
            <a:off x="9935276" y="674304"/>
            <a:ext cx="141371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2000" b="1" dirty="0"/>
              <a:t>Next item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FFC15-0C92-992D-6880-AED47B853D38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417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AB902-F8A2-9D03-60AF-4441DB44A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C11946-7266-9A15-EC8C-FC4CA8F69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A03A0-AADA-61A7-C04A-346C844CB68E}"/>
              </a:ext>
            </a:extLst>
          </p:cNvPr>
          <p:cNvSpPr txBox="1"/>
          <p:nvPr/>
        </p:nvSpPr>
        <p:spPr>
          <a:xfrm>
            <a:off x="890945" y="809045"/>
            <a:ext cx="46047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Influential Recommender Network (IRN)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14A3691-46F0-9CF5-FC2D-C42ED7E70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375640"/>
            <a:ext cx="4329984" cy="266961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34733B5-8E04-116B-29FC-616EDE6AB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45" y="4133820"/>
            <a:ext cx="7142010" cy="263561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85390A2-10D9-348B-8A2C-ED4CAB88A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88" y="905146"/>
            <a:ext cx="4805732" cy="31401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DEC39F-DEF6-AEAE-A831-E6C361E9C4F7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72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9FC43-118A-0572-D14C-20A99E19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83C4B4-D8EA-78CD-0020-D97A7F676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52A99-6DAC-384D-B67B-08B4A6A8BA8E}"/>
              </a:ext>
            </a:extLst>
          </p:cNvPr>
          <p:cNvSpPr txBox="1"/>
          <p:nvPr/>
        </p:nvSpPr>
        <p:spPr>
          <a:xfrm>
            <a:off x="890945" y="809045"/>
            <a:ext cx="46047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Influential Recommender Network (IRN)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25D237-8234-52D5-932D-137B5F498400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4C7DD9-C8A7-7E00-81FC-B4A5A673E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375640"/>
            <a:ext cx="6416596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01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71B2-3460-908D-0ACE-3124211A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104BC0A-F1B5-B379-2BA2-559C720B2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03B55-AC9B-12E5-86D7-4058AEF789A5}"/>
              </a:ext>
            </a:extLst>
          </p:cNvPr>
          <p:cNvSpPr txBox="1"/>
          <p:nvPr/>
        </p:nvSpPr>
        <p:spPr>
          <a:xfrm>
            <a:off x="890945" y="809045"/>
            <a:ext cx="46047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Influential Recommender Network (IRN)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126219-AA36-C1D0-8D06-7A7E79D24D53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77D11E-2EF4-320C-6FF7-5F60EBB77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97" y="1375640"/>
            <a:ext cx="6187976" cy="37417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1F85CC-A0C8-9F51-C7EA-EAE621C04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573" y="1178377"/>
            <a:ext cx="5616427" cy="491532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9D01EC3-FFD1-618F-B07E-B83793C5E75F}"/>
              </a:ext>
            </a:extLst>
          </p:cNvPr>
          <p:cNvSpPr/>
          <p:nvPr/>
        </p:nvSpPr>
        <p:spPr>
          <a:xfrm>
            <a:off x="993058" y="2576052"/>
            <a:ext cx="3352800" cy="25563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737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D08E-FFCF-AD22-E788-4615E7B86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AF52B8-0C4B-B550-EF19-0F619810D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EEA5F-874B-C5FE-7E88-674E72497E26}"/>
              </a:ext>
            </a:extLst>
          </p:cNvPr>
          <p:cNvSpPr txBox="1"/>
          <p:nvPr/>
        </p:nvSpPr>
        <p:spPr>
          <a:xfrm>
            <a:off x="890945" y="809045"/>
            <a:ext cx="46047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Influential Recommender Network (IRN)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5B124-D9F2-0DE6-BA02-F8068E36C87B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  <p:pic>
        <p:nvPicPr>
          <p:cNvPr id="7" name="그림 6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227F19-1DAF-3CCC-5F61-39C081BCF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07" y="1431778"/>
            <a:ext cx="6424217" cy="53573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8DC7416-821C-7C98-7AE0-3A86E6C56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178" y="1295061"/>
            <a:ext cx="7273822" cy="1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1487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68E9-AAA1-2E85-5504-FCD6AE41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EB753D-83AC-0353-1246-00A359C6B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B4F7E-4812-F89A-B7D5-1C9714FA2D0F}"/>
              </a:ext>
            </a:extLst>
          </p:cNvPr>
          <p:cNvSpPr txBox="1"/>
          <p:nvPr/>
        </p:nvSpPr>
        <p:spPr>
          <a:xfrm>
            <a:off x="890945" y="611782"/>
            <a:ext cx="46047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Influential Recommender Network (IRN)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31960-8563-5172-A8BE-2FFDF7B00C1C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  <p:pic>
        <p:nvPicPr>
          <p:cNvPr id="7" name="그림 6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2ABD90-73E0-D09B-6DCA-4F0B16713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56" y="1065567"/>
            <a:ext cx="5394144" cy="39364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510A28-88ED-3077-95B1-FEBED1DEA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444" y="708423"/>
            <a:ext cx="5814564" cy="27205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523E29-A8D0-D7E3-69B8-08C1BE527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098" y="3529621"/>
            <a:ext cx="5164976" cy="33392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8894F4-D3C3-6512-B8E9-7E39489B6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8233" y="5086435"/>
            <a:ext cx="3975932" cy="17402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5155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01AA-8FD7-3980-2928-DC2FE063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C3B52D4-9343-6C56-73FE-27E04E50F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E6A55-DC4F-2441-8E0F-00E1C92DFBBD}"/>
              </a:ext>
            </a:extLst>
          </p:cNvPr>
          <p:cNvSpPr txBox="1"/>
          <p:nvPr/>
        </p:nvSpPr>
        <p:spPr>
          <a:xfrm>
            <a:off x="890945" y="809045"/>
            <a:ext cx="46047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Influential Recommender Network (IRN)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EA684B-30C1-D3CA-A8B5-8DD20F28D9F5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4EB550-4CE9-BFA2-29BC-89688218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5" y="1375640"/>
            <a:ext cx="6337990" cy="4572876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EABA925-2272-CCAE-4EE8-94DB0EB701DC}"/>
              </a:ext>
            </a:extLst>
          </p:cNvPr>
          <p:cNvCxnSpPr/>
          <p:nvPr/>
        </p:nvCxnSpPr>
        <p:spPr>
          <a:xfrm>
            <a:off x="4594654" y="1857585"/>
            <a:ext cx="69979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41C0B1-5A8B-5DD1-CB0E-807FE3D76450}"/>
              </a:ext>
            </a:extLst>
          </p:cNvPr>
          <p:cNvSpPr txBox="1"/>
          <p:nvPr/>
        </p:nvSpPr>
        <p:spPr>
          <a:xfrm>
            <a:off x="5294450" y="1657530"/>
            <a:ext cx="141371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2000" b="1" dirty="0"/>
              <a:t>Next item</a:t>
            </a:r>
          </a:p>
        </p:txBody>
      </p:sp>
    </p:spTree>
    <p:extLst>
      <p:ext uri="{BB962C8B-B14F-4D97-AF65-F5344CB8AC3E}">
        <p14:creationId xmlns:p14="http://schemas.microsoft.com/office/powerpoint/2010/main" val="3502830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E0B2C-0E6B-FA47-0AF8-5EB1B6367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E13127-ECB2-878E-3768-A002BE429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06709-8EB9-6013-9142-12974970CE9F}"/>
              </a:ext>
            </a:extLst>
          </p:cNvPr>
          <p:cNvSpPr txBox="1"/>
          <p:nvPr/>
        </p:nvSpPr>
        <p:spPr>
          <a:xfrm>
            <a:off x="890945" y="809045"/>
            <a:ext cx="46047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Influential Recommender Network (IRN)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4A611F-0DD3-7763-3CD2-3F080FF90203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2"/>
              <a:defRPr/>
            </a:pPr>
            <a:r>
              <a:rPr lang="en-US" altLang="ko-KR" sz="2800" b="1" dirty="0"/>
              <a:t>Influential Recommender System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B2F6D6-D9CA-84D4-3F38-2B273698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309" y="809045"/>
            <a:ext cx="5813699" cy="59603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FC0ACF-45A2-8A04-F77D-4C4DD8D13F67}"/>
              </a:ext>
            </a:extLst>
          </p:cNvPr>
          <p:cNvSpPr txBox="1"/>
          <p:nvPr/>
        </p:nvSpPr>
        <p:spPr>
          <a:xfrm>
            <a:off x="890944" y="1507135"/>
            <a:ext cx="52050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Learning: Loss</a:t>
            </a:r>
            <a:r>
              <a:rPr lang="ko-KR" altLang="en-US" b="1" dirty="0"/>
              <a:t>를 </a:t>
            </a:r>
            <a:r>
              <a:rPr lang="en-US" altLang="ko-KR" b="1" dirty="0"/>
              <a:t>minimize</a:t>
            </a:r>
            <a:r>
              <a:rPr lang="ko-KR" altLang="en-US" b="1" dirty="0"/>
              <a:t>하는 </a:t>
            </a:r>
            <a:r>
              <a:rPr lang="en-US" altLang="ko-KR" b="1" dirty="0"/>
              <a:t>parameter</a:t>
            </a:r>
          </a:p>
          <a:p>
            <a:pPr marL="285750" indent="-285750">
              <a:buFontTx/>
              <a:buChar char="-"/>
            </a:pPr>
            <a:r>
              <a:rPr lang="en-US" altLang="ko-KR" b="1" dirty="0"/>
              <a:t>Inference: below algorithm iteration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F14BA13-E189-C26A-2B51-8D2C85F2C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85" y="2271252"/>
            <a:ext cx="5272088" cy="450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25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3A76-35A8-A55F-5937-2DE640AB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50DD06B-93EA-1C34-7A7F-6063DC9D9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FBC36D-6A39-D1F1-800B-84A240F84CE2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Evaluation Metrics</a:t>
            </a:r>
            <a:endParaRPr lang="ko-KR" alt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E772B0-B864-6A70-908B-EF7856E9E623}"/>
              </a:ext>
            </a:extLst>
          </p:cNvPr>
          <p:cNvSpPr txBox="1"/>
          <p:nvPr/>
        </p:nvSpPr>
        <p:spPr>
          <a:xfrm>
            <a:off x="890946" y="809045"/>
            <a:ext cx="23733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Evaluation Metrics</a:t>
            </a:r>
            <a:endParaRPr lang="ko-KR" altLang="en-US" b="1" dirty="0"/>
          </a:p>
        </p:txBody>
      </p:sp>
      <p:pic>
        <p:nvPicPr>
          <p:cNvPr id="12" name="그림 11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3244FC-CDDC-90FE-3BCC-2E240E9B4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5" y="1525817"/>
            <a:ext cx="5220152" cy="33302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E416D8-4A80-F210-433C-F555D0AC4377}"/>
              </a:ext>
            </a:extLst>
          </p:cNvPr>
          <p:cNvSpPr txBox="1"/>
          <p:nvPr/>
        </p:nvSpPr>
        <p:spPr>
          <a:xfrm>
            <a:off x="6401182" y="2116735"/>
            <a:ext cx="5220152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Target item</a:t>
            </a:r>
            <a:r>
              <a:rPr lang="ko-KR" altLang="en-US" b="1" dirty="0"/>
              <a:t>이 </a:t>
            </a:r>
            <a:r>
              <a:rPr lang="en-US" altLang="ko-KR" b="1" dirty="0"/>
              <a:t>influence path</a:t>
            </a:r>
            <a:r>
              <a:rPr lang="ko-KR" altLang="en-US" b="1" dirty="0"/>
              <a:t>에 포함된</a:t>
            </a:r>
            <a:endParaRPr lang="en-US" altLang="ko-KR" b="1" dirty="0"/>
          </a:p>
          <a:p>
            <a:r>
              <a:rPr lang="en-US" altLang="ko-KR" b="1" dirty="0"/>
              <a:t>user</a:t>
            </a:r>
            <a:r>
              <a:rPr lang="ko-KR" altLang="en-US" b="1" dirty="0"/>
              <a:t>의 성공비율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6A1C9-44D5-BE38-5485-0D44E47C37D0}"/>
              </a:ext>
            </a:extLst>
          </p:cNvPr>
          <p:cNvSpPr txBox="1"/>
          <p:nvPr/>
        </p:nvSpPr>
        <p:spPr>
          <a:xfrm>
            <a:off x="6401182" y="3621688"/>
            <a:ext cx="5220152" cy="869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Influence path</a:t>
            </a:r>
            <a:r>
              <a:rPr lang="ko-KR" altLang="en-US" b="1" dirty="0"/>
              <a:t>로 인한 </a:t>
            </a:r>
            <a:r>
              <a:rPr lang="en-US" altLang="ko-KR" b="1" dirty="0"/>
              <a:t>target item</a:t>
            </a:r>
            <a:r>
              <a:rPr lang="ko-KR" altLang="en-US" b="1" dirty="0"/>
              <a:t>의 </a:t>
            </a:r>
            <a:r>
              <a:rPr lang="en-US" altLang="ko-KR" b="1" dirty="0"/>
              <a:t>user interest </a:t>
            </a:r>
            <a:r>
              <a:rPr lang="ko-KR" altLang="en-US" b="1" dirty="0"/>
              <a:t>변화량</a:t>
            </a:r>
            <a:r>
              <a:rPr lang="en-US" altLang="ko-KR" b="1" dirty="0"/>
              <a:t>. [prob. ~ interest]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29978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43339-73DE-49B4-855C-644E23F7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F1116F-A854-6E65-F6FE-D8FD23FDA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8E4A34-F81A-BE9A-051F-7BC3E5F14D2E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Evaluation Metrics</a:t>
            </a:r>
            <a:endParaRPr lang="ko-KR" alt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330F5-A8F2-B57B-4248-EE39B1470A52}"/>
              </a:ext>
            </a:extLst>
          </p:cNvPr>
          <p:cNvSpPr txBox="1"/>
          <p:nvPr/>
        </p:nvSpPr>
        <p:spPr>
          <a:xfrm>
            <a:off x="890946" y="809045"/>
            <a:ext cx="23733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Evaluation Metrics</a:t>
            </a:r>
            <a:endParaRPr lang="ko-KR" altLang="en-US" b="1" dirty="0"/>
          </a:p>
        </p:txBody>
      </p:sp>
      <p:pic>
        <p:nvPicPr>
          <p:cNvPr id="19" name="그림 18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2E5877-DFC5-E969-A067-10A6302B7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5" y="2024569"/>
            <a:ext cx="5121084" cy="19051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AB3C93-89C2-BFBC-0D58-C583782FFD5F}"/>
              </a:ext>
            </a:extLst>
          </p:cNvPr>
          <p:cNvSpPr txBox="1"/>
          <p:nvPr/>
        </p:nvSpPr>
        <p:spPr>
          <a:xfrm>
            <a:off x="6401182" y="2334507"/>
            <a:ext cx="5220152" cy="1285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/>
              <a:t>Target item</a:t>
            </a:r>
            <a:r>
              <a:rPr lang="ko-KR" altLang="en-US" b="1" dirty="0"/>
              <a:t>이 </a:t>
            </a:r>
            <a:r>
              <a:rPr lang="en-US" altLang="ko-KR" b="1" dirty="0"/>
              <a:t>influence path</a:t>
            </a:r>
            <a:r>
              <a:rPr lang="ko-KR" altLang="en-US" b="1" dirty="0"/>
              <a:t>에 포함될 때</a:t>
            </a:r>
            <a:r>
              <a:rPr lang="en-US" altLang="ko-KR" b="1" dirty="0"/>
              <a:t>,</a:t>
            </a:r>
            <a:br>
              <a:rPr lang="en-US" altLang="ko-KR" b="1" dirty="0"/>
            </a:br>
            <a:r>
              <a:rPr lang="en-US" altLang="ko-KR" b="1" dirty="0"/>
              <a:t>target item</a:t>
            </a:r>
            <a:r>
              <a:rPr lang="ko-KR" altLang="en-US" b="1" dirty="0"/>
              <a:t>의 </a:t>
            </a:r>
            <a:r>
              <a:rPr lang="en-US" altLang="ko-KR" b="1" dirty="0"/>
              <a:t>ranking </a:t>
            </a:r>
            <a:r>
              <a:rPr lang="ko-KR" altLang="en-US" b="1" dirty="0" err="1"/>
              <a:t>증가량</a:t>
            </a:r>
            <a:r>
              <a:rPr lang="en-US" altLang="ko-KR" b="1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/>
              <a:t>R</a:t>
            </a:r>
            <a:r>
              <a:rPr lang="ko-KR" altLang="en-US" b="1" dirty="0"/>
              <a:t>값이 작아진 것 </a:t>
            </a:r>
            <a:r>
              <a:rPr lang="en-US" altLang="ko-KR" b="1" dirty="0"/>
              <a:t>== ranking</a:t>
            </a:r>
            <a:r>
              <a:rPr lang="ko-KR" altLang="en-US" b="1" dirty="0"/>
              <a:t> 증가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094553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5D73-D776-35E6-E767-11163CD0F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C2D775-7E1F-69D1-2F09-8FCDCBB31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C9423-22BC-0F91-87E2-6D621B1642FD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Evaluation Metrics</a:t>
            </a:r>
            <a:endParaRPr lang="ko-KR" alt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97B63-8EE1-F346-87BB-FA522E8DD790}"/>
              </a:ext>
            </a:extLst>
          </p:cNvPr>
          <p:cNvSpPr txBox="1"/>
          <p:nvPr/>
        </p:nvSpPr>
        <p:spPr>
          <a:xfrm>
            <a:off x="890946" y="809045"/>
            <a:ext cx="23733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Evaluation Metrics</a:t>
            </a:r>
            <a:endParaRPr lang="ko-KR" altLang="en-US" b="1" dirty="0"/>
          </a:p>
        </p:txBody>
      </p:sp>
      <p:pic>
        <p:nvPicPr>
          <p:cNvPr id="18" name="그림 1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A25EAE-883D-4CC3-DF95-2B0DA0F39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45" y="1650073"/>
            <a:ext cx="5075360" cy="31397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E7F3AE-9616-20BC-1B13-133D7B577F56}"/>
              </a:ext>
            </a:extLst>
          </p:cNvPr>
          <p:cNvSpPr txBox="1"/>
          <p:nvPr/>
        </p:nvSpPr>
        <p:spPr>
          <a:xfrm>
            <a:off x="6401182" y="2334507"/>
            <a:ext cx="5220152" cy="4542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b="1" dirty="0"/>
              <a:t>Influence path</a:t>
            </a:r>
            <a:r>
              <a:rPr lang="ko-KR" altLang="en-US" b="1" dirty="0"/>
              <a:t>의 </a:t>
            </a:r>
            <a:r>
              <a:rPr lang="en-US" altLang="ko-KR" b="1" dirty="0" err="1"/>
              <a:t>smothness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309225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1E36-0350-1BFA-7753-752290BD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762F578-D097-0136-7930-D4B265E18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881D22-DB3A-FF39-05A5-B6E6CA253E95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3"/>
              <a:defRPr/>
            </a:pPr>
            <a:r>
              <a:rPr lang="en-US" altLang="ko-KR" sz="2800" b="1" dirty="0"/>
              <a:t>Evaluation Metrics</a:t>
            </a:r>
            <a:endParaRPr lang="ko-KR" altLang="en-US" sz="2800" b="1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6DDD9E-0B03-5C48-95A6-64B2206F1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54" y="1536507"/>
            <a:ext cx="5166808" cy="1981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47CB14-3CDB-1410-1DB5-A85EDECD3AF5}"/>
              </a:ext>
            </a:extLst>
          </p:cNvPr>
          <p:cNvSpPr txBox="1"/>
          <p:nvPr/>
        </p:nvSpPr>
        <p:spPr>
          <a:xfrm>
            <a:off x="890946" y="809045"/>
            <a:ext cx="237336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/>
              <a:t>Evaluation Metrics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70151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104B-20AC-ED06-B348-0796F0EF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CD0258-CD14-15DD-9066-579ABAB6C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0853A9-3D91-4627-B377-02682E3E593E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ABB22-8EDE-0854-05AE-3348B2891AC1}"/>
              </a:ext>
            </a:extLst>
          </p:cNvPr>
          <p:cNvSpPr txBox="1"/>
          <p:nvPr/>
        </p:nvSpPr>
        <p:spPr>
          <a:xfrm>
            <a:off x="890945" y="88562"/>
            <a:ext cx="1102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 startAt="4"/>
              <a:defRPr/>
            </a:pPr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669FD7-3CA8-628B-4AF1-BEBBEE6B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54" y="1160599"/>
            <a:ext cx="7534492" cy="453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81102"/>
      </p:ext>
    </p:extLst>
  </p:cSld>
  <p:clrMapOvr>
    <a:masterClrMapping/>
  </p:clrMapOvr>
</p:sld>
</file>

<file path=ppt/theme/theme1.xml><?xml version="1.0" encoding="utf-8"?>
<a:theme xmlns:a="http://schemas.openxmlformats.org/drawingml/2006/main" name="DGIST Data Science Lab">
  <a:themeElements>
    <a:clrScheme name="템플릿 색상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B60"/>
      </a:accent1>
      <a:accent2>
        <a:srgbClr val="F8F7F2"/>
      </a:accent2>
      <a:accent3>
        <a:srgbClr val="B2DAFA"/>
      </a:accent3>
      <a:accent4>
        <a:srgbClr val="FDFDE9"/>
      </a:accent4>
      <a:accent5>
        <a:srgbClr val="5B9BD5"/>
      </a:accent5>
      <a:accent6>
        <a:srgbClr val="AABACC"/>
      </a:accent6>
      <a:hlink>
        <a:srgbClr val="6F7985"/>
      </a:hlink>
      <a:folHlink>
        <a:srgbClr val="954F72"/>
      </a:folHlink>
    </a:clrScheme>
    <a:fontScheme name="사용자 지정 1">
      <a:majorFont>
        <a:latin typeface="나눔스퀘어 네오 Heavy"/>
        <a:ea typeface="나눔스퀘어 네오 ExtraBold"/>
        <a:cs typeface=""/>
      </a:majorFont>
      <a:minorFont>
        <a:latin typeface="나눔스퀘어 네오 Regular"/>
        <a:ea typeface="나눔스퀘어 네오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283</Words>
  <Application>Microsoft Office PowerPoint</Application>
  <PresentationFormat>와이드스크린</PresentationFormat>
  <Paragraphs>90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Arial Unicode MS</vt:lpstr>
      <vt:lpstr>나눔스퀘어 네오 Heavy</vt:lpstr>
      <vt:lpstr>나눔스퀘어 네오 Regular</vt:lpstr>
      <vt:lpstr>맑은 고딕</vt:lpstr>
      <vt:lpstr>Arial</vt:lpstr>
      <vt:lpstr>Calibri</vt:lpstr>
      <vt:lpstr>Wingdings</vt:lpstr>
      <vt:lpstr>DGIST Data Science Lab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최수로</dc:creator>
  <cp:lastModifiedBy>서정호</cp:lastModifiedBy>
  <cp:revision>62</cp:revision>
  <dcterms:created xsi:type="dcterms:W3CDTF">2024-07-02T23:39:06Z</dcterms:created>
  <dcterms:modified xsi:type="dcterms:W3CDTF">2025-07-22T06:49:55Z</dcterms:modified>
</cp:coreProperties>
</file>